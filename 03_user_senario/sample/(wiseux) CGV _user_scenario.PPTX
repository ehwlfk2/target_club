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6" r:id="rId4"/>
    <p:sldId id="267" r:id="rId5"/>
    <p:sldId id="268" r:id="rId6"/>
    <p:sldId id="269" r:id="rId7"/>
    <p:sldId id="270" r:id="rId8"/>
    <p:sldId id="265" r:id="rId9"/>
    <p:sldId id="263" r:id="rId10"/>
    <p:sldId id="264" r:id="rId11"/>
    <p:sldId id="258" r:id="rId12"/>
    <p:sldId id="259" r:id="rId13"/>
    <p:sldId id="260" r:id="rId14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82" autoAdjust="0"/>
    <p:restoredTop sz="94660"/>
  </p:normalViewPr>
  <p:slideViewPr>
    <p:cSldViewPr>
      <p:cViewPr varScale="1">
        <p:scale>
          <a:sx n="81" d="100"/>
          <a:sy n="81" d="100"/>
        </p:scale>
        <p:origin x="-3432" y="-8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52019-EB1B-471C-8A13-D5EFFD4E2C6C}" type="datetimeFigureOut">
              <a:rPr lang="ko-KR" altLang="en-US" smtClean="0"/>
              <a:pPr/>
              <a:t>2010-11-22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B78E8-481A-41BD-98E9-BFF6B2979A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0" y="3238488"/>
            <a:ext cx="5429264" cy="14287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142852" y="3745048"/>
            <a:ext cx="385765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4000" dirty="0" smtClean="0">
                <a:solidFill>
                  <a:schemeClr val="bg1"/>
                </a:solidFill>
                <a:latin typeface="Book Antiqua" pitchFamily="18" charset="0"/>
                <a:ea typeface="맑은 고딕" pitchFamily="50" charset="-127"/>
              </a:rPr>
              <a:t>User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852" y="351209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latin typeface="Book Antiqua" pitchFamily="18" charset="0"/>
              </a:rPr>
              <a:t>CGV</a:t>
            </a:r>
            <a:endParaRPr lang="ko-KR" altLang="en-US" dirty="0">
              <a:solidFill>
                <a:schemeClr val="bg1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1484784" y="1568625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 smtClean="0">
                <a:solidFill>
                  <a:schemeClr val="tx1"/>
                </a:solidFill>
                <a:ea typeface="나눔고딕"/>
              </a:rPr>
              <a:t>Naver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등 검색 포탈에서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“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”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검색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1484784" y="387284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극장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9" name="갈매기형 수장 8"/>
          <p:cNvSpPr/>
          <p:nvPr/>
        </p:nvSpPr>
        <p:spPr>
          <a:xfrm>
            <a:off x="1910482" y="5529025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ea typeface="나눔고딕"/>
              </a:rPr>
              <a:t>CGV</a:t>
            </a:r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로</a:t>
            </a:r>
            <a:endParaRPr lang="en-US" altLang="ko-KR" sz="900" dirty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이동</a:t>
            </a:r>
          </a:p>
        </p:txBody>
      </p:sp>
      <p:sp>
        <p:nvSpPr>
          <p:cNvPr id="10" name="갈매기형 수장 9"/>
          <p:cNvSpPr/>
          <p:nvPr/>
        </p:nvSpPr>
        <p:spPr>
          <a:xfrm>
            <a:off x="1484784" y="441101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1484784" y="728791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관람인수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rot="5400000">
            <a:off x="2114784" y="201441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rot="5400000">
            <a:off x="2114784" y="432208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rot="5400000">
            <a:off x="2114784" y="485342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80"/>
          <p:cNvGrpSpPr/>
          <p:nvPr/>
        </p:nvGrpSpPr>
        <p:grpSpPr>
          <a:xfrm>
            <a:off x="1622565" y="3280408"/>
            <a:ext cx="1164439" cy="410979"/>
            <a:chOff x="1264429" y="6105706"/>
            <a:chExt cx="1164439" cy="410979"/>
          </a:xfrm>
        </p:grpSpPr>
        <p:sp>
          <p:nvSpPr>
            <p:cNvPr id="18" name="순서도: 판단 17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525173" y="6207080"/>
              <a:ext cx="6607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예매 결정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383524" y="3635641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9588" y="3203593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rot="5400000">
            <a:off x="2114784" y="774248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rot="5400000">
            <a:off x="2114784" y="378204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endCxn id="40" idx="3"/>
          </p:cNvCxnSpPr>
          <p:nvPr/>
        </p:nvCxnSpPr>
        <p:spPr>
          <a:xfrm flipV="1">
            <a:off x="2787004" y="2309841"/>
            <a:ext cx="137780" cy="1176057"/>
          </a:xfrm>
          <a:prstGeom prst="bentConnector3">
            <a:avLst>
              <a:gd name="adj1" fmla="val 495648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rot="5400000">
            <a:off x="2114784" y="604685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5400000">
            <a:off x="2114784" y="2593895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1484784" y="212984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영화중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마음에 드는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 rot="5400000">
            <a:off x="2114784" y="316995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갈매기형 수장 41"/>
          <p:cNvSpPr/>
          <p:nvPr/>
        </p:nvSpPr>
        <p:spPr>
          <a:xfrm>
            <a:off x="1484784" y="272075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 정보 습득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(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시놉시스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배우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평점 등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)</a:t>
            </a:r>
          </a:p>
        </p:txBody>
      </p:sp>
      <p:sp>
        <p:nvSpPr>
          <p:cNvPr id="46" name="갈매기형 수장 45"/>
          <p:cNvSpPr/>
          <p:nvPr/>
        </p:nvSpPr>
        <p:spPr>
          <a:xfrm>
            <a:off x="1484784" y="61357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rot="5400000">
            <a:off x="2114784" y="6581614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갈매기형 수장 47"/>
          <p:cNvSpPr/>
          <p:nvPr/>
        </p:nvSpPr>
        <p:spPr>
          <a:xfrm>
            <a:off x="1910482" y="6681153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 rot="5400000">
            <a:off x="2114784" y="720240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1484784" y="495296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관람인수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 rot="5400000">
            <a:off x="2114784" y="540220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갈매기형 수장 56"/>
          <p:cNvSpPr/>
          <p:nvPr/>
        </p:nvSpPr>
        <p:spPr>
          <a:xfrm>
            <a:off x="1484784" y="783328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좌석석택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 rot="5400000">
            <a:off x="2114784" y="828252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갈매기형 수장 58"/>
          <p:cNvSpPr/>
          <p:nvPr/>
        </p:nvSpPr>
        <p:spPr>
          <a:xfrm>
            <a:off x="1484784" y="837332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0" name="오각형 59"/>
          <p:cNvSpPr/>
          <p:nvPr/>
        </p:nvSpPr>
        <p:spPr>
          <a:xfrm>
            <a:off x="3933216" y="1568625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예매취소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1" name="갈매기형 수장 60"/>
          <p:cNvSpPr/>
          <p:nvPr/>
        </p:nvSpPr>
        <p:spPr>
          <a:xfrm>
            <a:off x="3933216" y="329681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예매취소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3" name="갈매기형 수장 62"/>
          <p:cNvSpPr/>
          <p:nvPr/>
        </p:nvSpPr>
        <p:spPr>
          <a:xfrm>
            <a:off x="3933216" y="383499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완</a:t>
            </a:r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료</a:t>
            </a:r>
          </a:p>
        </p:txBody>
      </p:sp>
      <p:cxnSp>
        <p:nvCxnSpPr>
          <p:cNvPr id="65" name="직선 화살표 연결선 64"/>
          <p:cNvCxnSpPr/>
          <p:nvPr/>
        </p:nvCxnSpPr>
        <p:spPr>
          <a:xfrm rot="5400000">
            <a:off x="4563216" y="201441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rot="5400000">
            <a:off x="4563216" y="374606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97" idx="2"/>
            <a:endCxn id="60" idx="0"/>
          </p:cNvCxnSpPr>
          <p:nvPr/>
        </p:nvCxnSpPr>
        <p:spPr>
          <a:xfrm rot="5400000" flipH="1" flipV="1">
            <a:off x="-423408" y="4196817"/>
            <a:ext cx="7704816" cy="2448432"/>
          </a:xfrm>
          <a:prstGeom prst="bentConnector5">
            <a:avLst>
              <a:gd name="adj1" fmla="val -2967"/>
              <a:gd name="adj2" fmla="val 60534"/>
              <a:gd name="adj3" fmla="val 102967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rot="5400000">
            <a:off x="4563216" y="2593895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갈매기형 수장 77"/>
          <p:cNvSpPr/>
          <p:nvPr/>
        </p:nvSpPr>
        <p:spPr>
          <a:xfrm>
            <a:off x="3933216" y="212984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My page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의 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“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나의 예매내역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”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으로 이동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 rot="5400000">
            <a:off x="4563216" y="316995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갈매기형 수장 79"/>
          <p:cNvSpPr/>
          <p:nvPr/>
        </p:nvSpPr>
        <p:spPr>
          <a:xfrm>
            <a:off x="3933216" y="272075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예매내역 확인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 rot="5400000">
            <a:off x="2114784" y="882264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갈매기형 수장 96"/>
          <p:cNvSpPr/>
          <p:nvPr/>
        </p:nvSpPr>
        <p:spPr>
          <a:xfrm>
            <a:off x="1484784" y="891344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예매완료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2700881" y="1424648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즐겨찾기의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CGV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들어옮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2700881" y="315284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0" name="갈매기형 수장 9"/>
          <p:cNvSpPr/>
          <p:nvPr/>
        </p:nvSpPr>
        <p:spPr>
          <a:xfrm>
            <a:off x="2700881" y="492385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2700881" y="891348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>
            <a:stCxn id="7" idx="2"/>
            <a:endCxn id="40" idx="0"/>
          </p:cNvCxnSpPr>
          <p:nvPr/>
        </p:nvCxnSpPr>
        <p:spPr>
          <a:xfrm rot="5400000">
            <a:off x="3320253" y="1885276"/>
            <a:ext cx="201256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42" idx="2"/>
            <a:endCxn id="8" idx="0"/>
          </p:cNvCxnSpPr>
          <p:nvPr/>
        </p:nvCxnSpPr>
        <p:spPr>
          <a:xfrm rot="5400000">
            <a:off x="3312849" y="3044808"/>
            <a:ext cx="21606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0" idx="2"/>
            <a:endCxn id="144" idx="0"/>
          </p:cNvCxnSpPr>
          <p:nvPr/>
        </p:nvCxnSpPr>
        <p:spPr>
          <a:xfrm rot="16200000" flipH="1">
            <a:off x="3334281" y="5370455"/>
            <a:ext cx="17320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순서도: 판단 17"/>
          <p:cNvSpPr/>
          <p:nvPr/>
        </p:nvSpPr>
        <p:spPr>
          <a:xfrm>
            <a:off x="2838662" y="430651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36000" y="440789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7112" y="581709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90496" y="4520952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4" name="직선 화살표 연결선 23"/>
          <p:cNvCxnSpPr>
            <a:stCxn id="18" idx="2"/>
            <a:endCxn id="10" idx="0"/>
          </p:cNvCxnSpPr>
          <p:nvPr/>
        </p:nvCxnSpPr>
        <p:spPr>
          <a:xfrm rot="5400000">
            <a:off x="3317702" y="4820676"/>
            <a:ext cx="20636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40" idx="2"/>
            <a:endCxn id="42" idx="0"/>
          </p:cNvCxnSpPr>
          <p:nvPr/>
        </p:nvCxnSpPr>
        <p:spPr>
          <a:xfrm rot="5400000">
            <a:off x="3305445" y="2461340"/>
            <a:ext cx="23087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2700881" y="198590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2" name="갈매기형 수장 41"/>
          <p:cNvSpPr/>
          <p:nvPr/>
        </p:nvSpPr>
        <p:spPr>
          <a:xfrm>
            <a:off x="2700881" y="257677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 우선순위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6" name="갈매기형 수장 45"/>
          <p:cNvSpPr/>
          <p:nvPr/>
        </p:nvSpPr>
        <p:spPr>
          <a:xfrm>
            <a:off x="2700881" y="603312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좌석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>
            <a:stCxn id="157" idx="2"/>
            <a:endCxn id="179" idx="0"/>
          </p:cNvCxnSpPr>
          <p:nvPr/>
        </p:nvCxnSpPr>
        <p:spPr>
          <a:xfrm rot="16200000" flipH="1">
            <a:off x="3327157" y="7639011"/>
            <a:ext cx="187449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2700881" y="37288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자주가는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영화관 자동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3" name="직선 화살표 연결선 92"/>
          <p:cNvCxnSpPr>
            <a:stCxn id="8" idx="2"/>
            <a:endCxn id="51" idx="0"/>
          </p:cNvCxnSpPr>
          <p:nvPr/>
        </p:nvCxnSpPr>
        <p:spPr>
          <a:xfrm rot="5400000">
            <a:off x="3312869" y="3620852"/>
            <a:ext cx="21602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51" idx="2"/>
            <a:endCxn id="18" idx="0"/>
          </p:cNvCxnSpPr>
          <p:nvPr/>
        </p:nvCxnSpPr>
        <p:spPr>
          <a:xfrm rot="16200000" flipH="1">
            <a:off x="3312055" y="4197689"/>
            <a:ext cx="21765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갈매기형 수장 112"/>
          <p:cNvSpPr/>
          <p:nvPr/>
        </p:nvSpPr>
        <p:spPr>
          <a:xfrm>
            <a:off x="1844984" y="4304928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14" name="꺾인 연결선 113"/>
          <p:cNvCxnSpPr>
            <a:stCxn id="18" idx="1"/>
            <a:endCxn id="113" idx="0"/>
          </p:cNvCxnSpPr>
          <p:nvPr/>
        </p:nvCxnSpPr>
        <p:spPr>
          <a:xfrm rot="10800000">
            <a:off x="2097012" y="4304929"/>
            <a:ext cx="741650" cy="207079"/>
          </a:xfrm>
          <a:prstGeom prst="bentConnector4">
            <a:avLst>
              <a:gd name="adj1" fmla="val 33009"/>
              <a:gd name="adj2" fmla="val 21039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3"/>
          <p:cNvCxnSpPr>
            <a:stCxn id="113" idx="2"/>
            <a:endCxn id="10" idx="1"/>
          </p:cNvCxnSpPr>
          <p:nvPr/>
        </p:nvCxnSpPr>
        <p:spPr>
          <a:xfrm rot="16200000" flipH="1">
            <a:off x="2179482" y="4582457"/>
            <a:ext cx="438928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순서도: 판단 143"/>
          <p:cNvSpPr/>
          <p:nvPr/>
        </p:nvSpPr>
        <p:spPr>
          <a:xfrm>
            <a:off x="2838662" y="545705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036000" y="555843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cxnSp>
        <p:nvCxnSpPr>
          <p:cNvPr id="146" name="직선 화살표 연결선 145"/>
          <p:cNvCxnSpPr>
            <a:stCxn id="144" idx="2"/>
            <a:endCxn id="46" idx="0"/>
          </p:cNvCxnSpPr>
          <p:nvPr/>
        </p:nvCxnSpPr>
        <p:spPr>
          <a:xfrm rot="5400000">
            <a:off x="3338340" y="5950577"/>
            <a:ext cx="165085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갈매기형 수장 146"/>
          <p:cNvSpPr/>
          <p:nvPr/>
        </p:nvSpPr>
        <p:spPr>
          <a:xfrm>
            <a:off x="1844984" y="545705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8" name="꺾인 연결선 113"/>
          <p:cNvCxnSpPr>
            <a:stCxn id="144" idx="1"/>
            <a:endCxn id="147" idx="0"/>
          </p:cNvCxnSpPr>
          <p:nvPr/>
        </p:nvCxnSpPr>
        <p:spPr>
          <a:xfrm rot="10800000">
            <a:off x="2097012" y="5457056"/>
            <a:ext cx="741650" cy="205490"/>
          </a:xfrm>
          <a:prstGeom prst="bentConnector4">
            <a:avLst>
              <a:gd name="adj1" fmla="val 33009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13"/>
          <p:cNvCxnSpPr>
            <a:stCxn id="147" idx="2"/>
            <a:endCxn id="46" idx="1"/>
          </p:cNvCxnSpPr>
          <p:nvPr/>
        </p:nvCxnSpPr>
        <p:spPr>
          <a:xfrm rot="16200000" flipH="1">
            <a:off x="2200914" y="5713153"/>
            <a:ext cx="396064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2997112" y="4664968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493056" y="567308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984934" y="693535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7" name="갈매기형 수장 156"/>
          <p:cNvSpPr/>
          <p:nvPr/>
        </p:nvSpPr>
        <p:spPr>
          <a:xfrm>
            <a:off x="2700881" y="71852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결제수단 자동선택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59" name="순서도: 판단 158"/>
          <p:cNvSpPr/>
          <p:nvPr/>
        </p:nvSpPr>
        <p:spPr>
          <a:xfrm>
            <a:off x="2838662" y="657531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036000" y="667669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61" name="갈매기형 수장 160"/>
          <p:cNvSpPr/>
          <p:nvPr/>
        </p:nvSpPr>
        <p:spPr>
          <a:xfrm>
            <a:off x="1844984" y="657531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62" name="꺾인 연결선 113"/>
          <p:cNvCxnSpPr>
            <a:endCxn id="161" idx="0"/>
          </p:cNvCxnSpPr>
          <p:nvPr/>
        </p:nvCxnSpPr>
        <p:spPr>
          <a:xfrm rot="10800000">
            <a:off x="2097012" y="6575316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13"/>
          <p:cNvCxnSpPr>
            <a:stCxn id="161" idx="2"/>
            <a:endCxn id="157" idx="1"/>
          </p:cNvCxnSpPr>
          <p:nvPr/>
        </p:nvCxnSpPr>
        <p:spPr>
          <a:xfrm rot="16200000" flipH="1">
            <a:off x="2183960" y="6848367"/>
            <a:ext cx="429972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2493056" y="679134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65" name="직선 화살표 연결선 164"/>
          <p:cNvCxnSpPr>
            <a:stCxn id="46" idx="2"/>
            <a:endCxn id="159" idx="0"/>
          </p:cNvCxnSpPr>
          <p:nvPr/>
        </p:nvCxnSpPr>
        <p:spPr>
          <a:xfrm rot="16200000" flipH="1">
            <a:off x="3329783" y="6484217"/>
            <a:ext cx="182196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stCxn id="159" idx="2"/>
            <a:endCxn id="157" idx="0"/>
          </p:cNvCxnSpPr>
          <p:nvPr/>
        </p:nvCxnSpPr>
        <p:spPr>
          <a:xfrm rot="5400000">
            <a:off x="3321386" y="7085791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968537" y="8092777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77" name="갈매기형 수장 176"/>
          <p:cNvSpPr/>
          <p:nvPr/>
        </p:nvSpPr>
        <p:spPr>
          <a:xfrm>
            <a:off x="2700881" y="8342709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79" name="순서도: 판단 178"/>
          <p:cNvSpPr/>
          <p:nvPr/>
        </p:nvSpPr>
        <p:spPr>
          <a:xfrm>
            <a:off x="2838662" y="773273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036000" y="783411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81" name="갈매기형 수장 180"/>
          <p:cNvSpPr/>
          <p:nvPr/>
        </p:nvSpPr>
        <p:spPr>
          <a:xfrm>
            <a:off x="1828587" y="7732737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82" name="꺾인 연결선 113"/>
          <p:cNvCxnSpPr>
            <a:stCxn id="181" idx="2"/>
            <a:endCxn id="177" idx="1"/>
          </p:cNvCxnSpPr>
          <p:nvPr/>
        </p:nvCxnSpPr>
        <p:spPr>
          <a:xfrm rot="16200000" flipH="1">
            <a:off x="2175762" y="7997590"/>
            <a:ext cx="429972" cy="620266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13"/>
          <p:cNvCxnSpPr>
            <a:endCxn id="181" idx="0"/>
          </p:cNvCxnSpPr>
          <p:nvPr/>
        </p:nvCxnSpPr>
        <p:spPr>
          <a:xfrm rot="10800000">
            <a:off x="2080615" y="7732737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2476659" y="7948761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85" name="직선 화살표 연결선 184"/>
          <p:cNvCxnSpPr>
            <a:stCxn id="179" idx="2"/>
            <a:endCxn id="177" idx="0"/>
          </p:cNvCxnSpPr>
          <p:nvPr/>
        </p:nvCxnSpPr>
        <p:spPr>
          <a:xfrm rot="5400000">
            <a:off x="3321386" y="8243212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77" idx="2"/>
            <a:endCxn id="12" idx="0"/>
          </p:cNvCxnSpPr>
          <p:nvPr/>
        </p:nvCxnSpPr>
        <p:spPr>
          <a:xfrm rot="5400000">
            <a:off x="3315496" y="8808094"/>
            <a:ext cx="210771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2700881" y="1424648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즐겨찾기의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CGV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들어옮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2700881" y="315284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0" name="갈매기형 수장 9"/>
          <p:cNvSpPr/>
          <p:nvPr/>
        </p:nvSpPr>
        <p:spPr>
          <a:xfrm>
            <a:off x="2700881" y="492385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2700881" y="891348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>
            <a:stCxn id="7" idx="2"/>
            <a:endCxn id="40" idx="0"/>
          </p:cNvCxnSpPr>
          <p:nvPr/>
        </p:nvCxnSpPr>
        <p:spPr>
          <a:xfrm rot="5400000">
            <a:off x="3320253" y="1885276"/>
            <a:ext cx="201256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42" idx="2"/>
            <a:endCxn id="8" idx="0"/>
          </p:cNvCxnSpPr>
          <p:nvPr/>
        </p:nvCxnSpPr>
        <p:spPr>
          <a:xfrm rot="5400000">
            <a:off x="3312849" y="3044808"/>
            <a:ext cx="21606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0" idx="2"/>
            <a:endCxn id="144" idx="0"/>
          </p:cNvCxnSpPr>
          <p:nvPr/>
        </p:nvCxnSpPr>
        <p:spPr>
          <a:xfrm rot="16200000" flipH="1">
            <a:off x="3334281" y="5370455"/>
            <a:ext cx="17320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순서도: 판단 17"/>
          <p:cNvSpPr/>
          <p:nvPr/>
        </p:nvSpPr>
        <p:spPr>
          <a:xfrm>
            <a:off x="2838662" y="430651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36000" y="440789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7112" y="581709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90496" y="4520952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4" name="직선 화살표 연결선 23"/>
          <p:cNvCxnSpPr>
            <a:stCxn id="18" idx="2"/>
            <a:endCxn id="10" idx="0"/>
          </p:cNvCxnSpPr>
          <p:nvPr/>
        </p:nvCxnSpPr>
        <p:spPr>
          <a:xfrm rot="5400000">
            <a:off x="3317702" y="4820676"/>
            <a:ext cx="20636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40" idx="2"/>
            <a:endCxn id="42" idx="0"/>
          </p:cNvCxnSpPr>
          <p:nvPr/>
        </p:nvCxnSpPr>
        <p:spPr>
          <a:xfrm rot="5400000">
            <a:off x="3305445" y="2461340"/>
            <a:ext cx="23087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2700881" y="198590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2" name="갈매기형 수장 41"/>
          <p:cNvSpPr/>
          <p:nvPr/>
        </p:nvSpPr>
        <p:spPr>
          <a:xfrm>
            <a:off x="2700881" y="257677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 우선순위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6" name="갈매기형 수장 45"/>
          <p:cNvSpPr/>
          <p:nvPr/>
        </p:nvSpPr>
        <p:spPr>
          <a:xfrm>
            <a:off x="2700881" y="603312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좌석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>
            <a:stCxn id="157" idx="2"/>
            <a:endCxn id="179" idx="0"/>
          </p:cNvCxnSpPr>
          <p:nvPr/>
        </p:nvCxnSpPr>
        <p:spPr>
          <a:xfrm rot="16200000" flipH="1">
            <a:off x="3327157" y="7639011"/>
            <a:ext cx="187449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2700881" y="37288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자주가는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영화관 자동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3" name="직선 화살표 연결선 92"/>
          <p:cNvCxnSpPr>
            <a:stCxn id="8" idx="2"/>
            <a:endCxn id="51" idx="0"/>
          </p:cNvCxnSpPr>
          <p:nvPr/>
        </p:nvCxnSpPr>
        <p:spPr>
          <a:xfrm rot="5400000">
            <a:off x="3312869" y="3620852"/>
            <a:ext cx="21602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51" idx="2"/>
            <a:endCxn id="18" idx="0"/>
          </p:cNvCxnSpPr>
          <p:nvPr/>
        </p:nvCxnSpPr>
        <p:spPr>
          <a:xfrm rot="16200000" flipH="1">
            <a:off x="3312055" y="4197689"/>
            <a:ext cx="21765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갈매기형 수장 112"/>
          <p:cNvSpPr/>
          <p:nvPr/>
        </p:nvSpPr>
        <p:spPr>
          <a:xfrm>
            <a:off x="1844984" y="4304928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14" name="꺾인 연결선 113"/>
          <p:cNvCxnSpPr>
            <a:stCxn id="18" idx="1"/>
            <a:endCxn id="113" idx="0"/>
          </p:cNvCxnSpPr>
          <p:nvPr/>
        </p:nvCxnSpPr>
        <p:spPr>
          <a:xfrm rot="10800000">
            <a:off x="2097012" y="4304929"/>
            <a:ext cx="741650" cy="207079"/>
          </a:xfrm>
          <a:prstGeom prst="bentConnector4">
            <a:avLst>
              <a:gd name="adj1" fmla="val 33009"/>
              <a:gd name="adj2" fmla="val 21039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3"/>
          <p:cNvCxnSpPr>
            <a:stCxn id="113" idx="2"/>
            <a:endCxn id="10" idx="1"/>
          </p:cNvCxnSpPr>
          <p:nvPr/>
        </p:nvCxnSpPr>
        <p:spPr>
          <a:xfrm rot="16200000" flipH="1">
            <a:off x="2179482" y="4582457"/>
            <a:ext cx="438928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순서도: 판단 143"/>
          <p:cNvSpPr/>
          <p:nvPr/>
        </p:nvSpPr>
        <p:spPr>
          <a:xfrm>
            <a:off x="2838662" y="545705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036000" y="555843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cxnSp>
        <p:nvCxnSpPr>
          <p:cNvPr id="146" name="직선 화살표 연결선 145"/>
          <p:cNvCxnSpPr>
            <a:stCxn id="144" idx="2"/>
            <a:endCxn id="46" idx="0"/>
          </p:cNvCxnSpPr>
          <p:nvPr/>
        </p:nvCxnSpPr>
        <p:spPr>
          <a:xfrm rot="5400000">
            <a:off x="3338340" y="5950577"/>
            <a:ext cx="165085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갈매기형 수장 146"/>
          <p:cNvSpPr/>
          <p:nvPr/>
        </p:nvSpPr>
        <p:spPr>
          <a:xfrm>
            <a:off x="1844984" y="545705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8" name="꺾인 연결선 113"/>
          <p:cNvCxnSpPr>
            <a:stCxn id="144" idx="1"/>
            <a:endCxn id="147" idx="0"/>
          </p:cNvCxnSpPr>
          <p:nvPr/>
        </p:nvCxnSpPr>
        <p:spPr>
          <a:xfrm rot="10800000">
            <a:off x="2097012" y="5457056"/>
            <a:ext cx="741650" cy="205490"/>
          </a:xfrm>
          <a:prstGeom prst="bentConnector4">
            <a:avLst>
              <a:gd name="adj1" fmla="val 33009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13"/>
          <p:cNvCxnSpPr>
            <a:stCxn id="147" idx="2"/>
            <a:endCxn id="46" idx="1"/>
          </p:cNvCxnSpPr>
          <p:nvPr/>
        </p:nvCxnSpPr>
        <p:spPr>
          <a:xfrm rot="16200000" flipH="1">
            <a:off x="2200914" y="5713153"/>
            <a:ext cx="396064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2997112" y="4664968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493056" y="567308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984934" y="693535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7" name="갈매기형 수장 156"/>
          <p:cNvSpPr/>
          <p:nvPr/>
        </p:nvSpPr>
        <p:spPr>
          <a:xfrm>
            <a:off x="2700881" y="71852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결제수단 자동선택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59" name="순서도: 판단 158"/>
          <p:cNvSpPr/>
          <p:nvPr/>
        </p:nvSpPr>
        <p:spPr>
          <a:xfrm>
            <a:off x="2838662" y="657531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036000" y="667669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61" name="갈매기형 수장 160"/>
          <p:cNvSpPr/>
          <p:nvPr/>
        </p:nvSpPr>
        <p:spPr>
          <a:xfrm>
            <a:off x="1844984" y="657531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62" name="꺾인 연결선 113"/>
          <p:cNvCxnSpPr>
            <a:endCxn id="161" idx="0"/>
          </p:cNvCxnSpPr>
          <p:nvPr/>
        </p:nvCxnSpPr>
        <p:spPr>
          <a:xfrm rot="10800000">
            <a:off x="2097012" y="6575316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13"/>
          <p:cNvCxnSpPr>
            <a:stCxn id="161" idx="2"/>
            <a:endCxn id="157" idx="1"/>
          </p:cNvCxnSpPr>
          <p:nvPr/>
        </p:nvCxnSpPr>
        <p:spPr>
          <a:xfrm rot="16200000" flipH="1">
            <a:off x="2183960" y="6848367"/>
            <a:ext cx="429972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2493056" y="679134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65" name="직선 화살표 연결선 164"/>
          <p:cNvCxnSpPr>
            <a:stCxn id="46" idx="2"/>
            <a:endCxn id="159" idx="0"/>
          </p:cNvCxnSpPr>
          <p:nvPr/>
        </p:nvCxnSpPr>
        <p:spPr>
          <a:xfrm rot="16200000" flipH="1">
            <a:off x="3329783" y="6484217"/>
            <a:ext cx="182196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stCxn id="159" idx="2"/>
            <a:endCxn id="157" idx="0"/>
          </p:cNvCxnSpPr>
          <p:nvPr/>
        </p:nvCxnSpPr>
        <p:spPr>
          <a:xfrm rot="5400000">
            <a:off x="3321386" y="7085791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968537" y="8092777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77" name="갈매기형 수장 176"/>
          <p:cNvSpPr/>
          <p:nvPr/>
        </p:nvSpPr>
        <p:spPr>
          <a:xfrm>
            <a:off x="2700881" y="8342709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79" name="순서도: 판단 178"/>
          <p:cNvSpPr/>
          <p:nvPr/>
        </p:nvSpPr>
        <p:spPr>
          <a:xfrm>
            <a:off x="2838662" y="773273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036000" y="783411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81" name="갈매기형 수장 180"/>
          <p:cNvSpPr/>
          <p:nvPr/>
        </p:nvSpPr>
        <p:spPr>
          <a:xfrm>
            <a:off x="1828587" y="7732737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82" name="꺾인 연결선 113"/>
          <p:cNvCxnSpPr>
            <a:stCxn id="181" idx="2"/>
            <a:endCxn id="177" idx="1"/>
          </p:cNvCxnSpPr>
          <p:nvPr/>
        </p:nvCxnSpPr>
        <p:spPr>
          <a:xfrm rot="16200000" flipH="1">
            <a:off x="2175762" y="7997590"/>
            <a:ext cx="429972" cy="620266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13"/>
          <p:cNvCxnSpPr>
            <a:endCxn id="181" idx="0"/>
          </p:cNvCxnSpPr>
          <p:nvPr/>
        </p:nvCxnSpPr>
        <p:spPr>
          <a:xfrm rot="10800000">
            <a:off x="2080615" y="7732737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2476659" y="7948761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85" name="직선 화살표 연결선 184"/>
          <p:cNvCxnSpPr>
            <a:stCxn id="179" idx="2"/>
            <a:endCxn id="177" idx="0"/>
          </p:cNvCxnSpPr>
          <p:nvPr/>
        </p:nvCxnSpPr>
        <p:spPr>
          <a:xfrm rot="5400000">
            <a:off x="3321386" y="8243212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77" idx="2"/>
            <a:endCxn id="12" idx="0"/>
          </p:cNvCxnSpPr>
          <p:nvPr/>
        </p:nvCxnSpPr>
        <p:spPr>
          <a:xfrm rot="5400000">
            <a:off x="3315496" y="8808094"/>
            <a:ext cx="210771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2700881" y="1424648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즐겨찾기의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CGV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들어옮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2700881" y="315284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극장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0" name="갈매기형 수장 9"/>
          <p:cNvSpPr/>
          <p:nvPr/>
        </p:nvSpPr>
        <p:spPr>
          <a:xfrm>
            <a:off x="2700881" y="492385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2700881" y="891348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>
            <a:stCxn id="7" idx="2"/>
            <a:endCxn id="40" idx="0"/>
          </p:cNvCxnSpPr>
          <p:nvPr/>
        </p:nvCxnSpPr>
        <p:spPr>
          <a:xfrm rot="5400000">
            <a:off x="3320253" y="1885276"/>
            <a:ext cx="201256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42" idx="2"/>
            <a:endCxn id="8" idx="0"/>
          </p:cNvCxnSpPr>
          <p:nvPr/>
        </p:nvCxnSpPr>
        <p:spPr>
          <a:xfrm rot="5400000">
            <a:off x="3312849" y="3044808"/>
            <a:ext cx="21606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0" idx="2"/>
            <a:endCxn id="144" idx="0"/>
          </p:cNvCxnSpPr>
          <p:nvPr/>
        </p:nvCxnSpPr>
        <p:spPr>
          <a:xfrm rot="16200000" flipH="1">
            <a:off x="3334281" y="5370455"/>
            <a:ext cx="17320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순서도: 판단 17"/>
          <p:cNvSpPr/>
          <p:nvPr/>
        </p:nvSpPr>
        <p:spPr>
          <a:xfrm>
            <a:off x="2838662" y="430651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36000" y="440789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7112" y="581709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90496" y="4520952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4" name="직선 화살표 연결선 23"/>
          <p:cNvCxnSpPr>
            <a:stCxn id="18" idx="2"/>
            <a:endCxn id="10" idx="0"/>
          </p:cNvCxnSpPr>
          <p:nvPr/>
        </p:nvCxnSpPr>
        <p:spPr>
          <a:xfrm rot="5400000">
            <a:off x="3317702" y="4820676"/>
            <a:ext cx="20636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40" idx="2"/>
            <a:endCxn id="42" idx="0"/>
          </p:cNvCxnSpPr>
          <p:nvPr/>
        </p:nvCxnSpPr>
        <p:spPr>
          <a:xfrm rot="5400000">
            <a:off x="3305445" y="2461340"/>
            <a:ext cx="23087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2700881" y="198590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2" name="갈매기형 수장 41"/>
          <p:cNvSpPr/>
          <p:nvPr/>
        </p:nvSpPr>
        <p:spPr>
          <a:xfrm>
            <a:off x="2700881" y="257677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 우선순위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6" name="갈매기형 수장 45"/>
          <p:cNvSpPr/>
          <p:nvPr/>
        </p:nvSpPr>
        <p:spPr>
          <a:xfrm>
            <a:off x="2700881" y="603312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좌석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>
            <a:stCxn id="157" idx="2"/>
            <a:endCxn id="179" idx="0"/>
          </p:cNvCxnSpPr>
          <p:nvPr/>
        </p:nvCxnSpPr>
        <p:spPr>
          <a:xfrm rot="16200000" flipH="1">
            <a:off x="3327157" y="7639011"/>
            <a:ext cx="187449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2700881" y="37288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추천 영화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3" name="직선 화살표 연결선 92"/>
          <p:cNvCxnSpPr>
            <a:stCxn id="8" idx="2"/>
            <a:endCxn id="51" idx="0"/>
          </p:cNvCxnSpPr>
          <p:nvPr/>
        </p:nvCxnSpPr>
        <p:spPr>
          <a:xfrm rot="5400000">
            <a:off x="3312869" y="3620852"/>
            <a:ext cx="21602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51" idx="2"/>
            <a:endCxn id="18" idx="0"/>
          </p:cNvCxnSpPr>
          <p:nvPr/>
        </p:nvCxnSpPr>
        <p:spPr>
          <a:xfrm rot="16200000" flipH="1">
            <a:off x="3312055" y="4197689"/>
            <a:ext cx="21765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갈매기형 수장 112"/>
          <p:cNvSpPr/>
          <p:nvPr/>
        </p:nvSpPr>
        <p:spPr>
          <a:xfrm>
            <a:off x="1844984" y="4304928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14" name="꺾인 연결선 113"/>
          <p:cNvCxnSpPr>
            <a:stCxn id="18" idx="1"/>
            <a:endCxn id="113" idx="0"/>
          </p:cNvCxnSpPr>
          <p:nvPr/>
        </p:nvCxnSpPr>
        <p:spPr>
          <a:xfrm rot="10800000">
            <a:off x="2097012" y="4304929"/>
            <a:ext cx="741650" cy="207079"/>
          </a:xfrm>
          <a:prstGeom prst="bentConnector4">
            <a:avLst>
              <a:gd name="adj1" fmla="val 33009"/>
              <a:gd name="adj2" fmla="val 21039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3"/>
          <p:cNvCxnSpPr>
            <a:stCxn id="113" idx="2"/>
            <a:endCxn id="10" idx="1"/>
          </p:cNvCxnSpPr>
          <p:nvPr/>
        </p:nvCxnSpPr>
        <p:spPr>
          <a:xfrm rot="16200000" flipH="1">
            <a:off x="2179482" y="4582457"/>
            <a:ext cx="438928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순서도: 판단 143"/>
          <p:cNvSpPr/>
          <p:nvPr/>
        </p:nvSpPr>
        <p:spPr>
          <a:xfrm>
            <a:off x="2838662" y="545705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036000" y="555843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cxnSp>
        <p:nvCxnSpPr>
          <p:cNvPr id="146" name="직선 화살표 연결선 145"/>
          <p:cNvCxnSpPr>
            <a:stCxn id="144" idx="2"/>
            <a:endCxn id="46" idx="0"/>
          </p:cNvCxnSpPr>
          <p:nvPr/>
        </p:nvCxnSpPr>
        <p:spPr>
          <a:xfrm rot="5400000">
            <a:off x="3338340" y="5950577"/>
            <a:ext cx="165085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갈매기형 수장 146"/>
          <p:cNvSpPr/>
          <p:nvPr/>
        </p:nvSpPr>
        <p:spPr>
          <a:xfrm>
            <a:off x="1844984" y="545705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8" name="꺾인 연결선 113"/>
          <p:cNvCxnSpPr>
            <a:stCxn id="144" idx="1"/>
            <a:endCxn id="147" idx="0"/>
          </p:cNvCxnSpPr>
          <p:nvPr/>
        </p:nvCxnSpPr>
        <p:spPr>
          <a:xfrm rot="10800000">
            <a:off x="2097012" y="5457056"/>
            <a:ext cx="741650" cy="205490"/>
          </a:xfrm>
          <a:prstGeom prst="bentConnector4">
            <a:avLst>
              <a:gd name="adj1" fmla="val 33009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13"/>
          <p:cNvCxnSpPr>
            <a:stCxn id="147" idx="2"/>
            <a:endCxn id="46" idx="1"/>
          </p:cNvCxnSpPr>
          <p:nvPr/>
        </p:nvCxnSpPr>
        <p:spPr>
          <a:xfrm rot="16200000" flipH="1">
            <a:off x="2200914" y="5713153"/>
            <a:ext cx="396064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2997112" y="4664968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493056" y="567308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984934" y="693535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7" name="갈매기형 수장 156"/>
          <p:cNvSpPr/>
          <p:nvPr/>
        </p:nvSpPr>
        <p:spPr>
          <a:xfrm>
            <a:off x="2700881" y="71852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결제수단 자동선택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59" name="순서도: 판단 158"/>
          <p:cNvSpPr/>
          <p:nvPr/>
        </p:nvSpPr>
        <p:spPr>
          <a:xfrm>
            <a:off x="2838662" y="657531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036000" y="667669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61" name="갈매기형 수장 160"/>
          <p:cNvSpPr/>
          <p:nvPr/>
        </p:nvSpPr>
        <p:spPr>
          <a:xfrm>
            <a:off x="1844984" y="657531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62" name="꺾인 연결선 113"/>
          <p:cNvCxnSpPr>
            <a:endCxn id="161" idx="0"/>
          </p:cNvCxnSpPr>
          <p:nvPr/>
        </p:nvCxnSpPr>
        <p:spPr>
          <a:xfrm rot="10800000">
            <a:off x="2097012" y="6575316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13"/>
          <p:cNvCxnSpPr>
            <a:stCxn id="161" idx="2"/>
            <a:endCxn id="157" idx="1"/>
          </p:cNvCxnSpPr>
          <p:nvPr/>
        </p:nvCxnSpPr>
        <p:spPr>
          <a:xfrm rot="16200000" flipH="1">
            <a:off x="2183960" y="6848367"/>
            <a:ext cx="429972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2493056" y="679134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65" name="직선 화살표 연결선 164"/>
          <p:cNvCxnSpPr>
            <a:stCxn id="46" idx="2"/>
            <a:endCxn id="159" idx="0"/>
          </p:cNvCxnSpPr>
          <p:nvPr/>
        </p:nvCxnSpPr>
        <p:spPr>
          <a:xfrm rot="16200000" flipH="1">
            <a:off x="3329783" y="6484217"/>
            <a:ext cx="182196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stCxn id="159" idx="2"/>
            <a:endCxn id="157" idx="0"/>
          </p:cNvCxnSpPr>
          <p:nvPr/>
        </p:nvCxnSpPr>
        <p:spPr>
          <a:xfrm rot="5400000">
            <a:off x="3321386" y="7085791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968537" y="8092777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77" name="갈매기형 수장 176"/>
          <p:cNvSpPr/>
          <p:nvPr/>
        </p:nvSpPr>
        <p:spPr>
          <a:xfrm>
            <a:off x="2700881" y="8342709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79" name="순서도: 판단 178"/>
          <p:cNvSpPr/>
          <p:nvPr/>
        </p:nvSpPr>
        <p:spPr>
          <a:xfrm>
            <a:off x="2838662" y="773273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036000" y="783411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81" name="갈매기형 수장 180"/>
          <p:cNvSpPr/>
          <p:nvPr/>
        </p:nvSpPr>
        <p:spPr>
          <a:xfrm>
            <a:off x="1828587" y="7732737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82" name="꺾인 연결선 113"/>
          <p:cNvCxnSpPr>
            <a:stCxn id="181" idx="2"/>
            <a:endCxn id="177" idx="1"/>
          </p:cNvCxnSpPr>
          <p:nvPr/>
        </p:nvCxnSpPr>
        <p:spPr>
          <a:xfrm rot="16200000" flipH="1">
            <a:off x="2175762" y="7997590"/>
            <a:ext cx="429972" cy="620266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13"/>
          <p:cNvCxnSpPr>
            <a:endCxn id="181" idx="0"/>
          </p:cNvCxnSpPr>
          <p:nvPr/>
        </p:nvCxnSpPr>
        <p:spPr>
          <a:xfrm rot="10800000">
            <a:off x="2080615" y="7732737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2476659" y="7948761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85" name="직선 화살표 연결선 184"/>
          <p:cNvCxnSpPr>
            <a:stCxn id="179" idx="2"/>
            <a:endCxn id="177" idx="0"/>
          </p:cNvCxnSpPr>
          <p:nvPr/>
        </p:nvCxnSpPr>
        <p:spPr>
          <a:xfrm rot="5400000">
            <a:off x="3321386" y="8243212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77" idx="2"/>
            <a:endCxn id="12" idx="0"/>
          </p:cNvCxnSpPr>
          <p:nvPr/>
        </p:nvCxnSpPr>
        <p:spPr>
          <a:xfrm rot="5400000">
            <a:off x="3315496" y="8808094"/>
            <a:ext cx="210771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2700881" y="1424648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즐겨찾기의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CGV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들어옮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2700881" y="315284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극장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0" name="갈매기형 수장 9"/>
          <p:cNvSpPr/>
          <p:nvPr/>
        </p:nvSpPr>
        <p:spPr>
          <a:xfrm>
            <a:off x="2700881" y="492385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2700881" y="891348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>
            <a:stCxn id="7" idx="2"/>
            <a:endCxn id="40" idx="0"/>
          </p:cNvCxnSpPr>
          <p:nvPr/>
        </p:nvCxnSpPr>
        <p:spPr>
          <a:xfrm rot="5400000">
            <a:off x="3320253" y="1885276"/>
            <a:ext cx="201256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42" idx="2"/>
            <a:endCxn id="8" idx="0"/>
          </p:cNvCxnSpPr>
          <p:nvPr/>
        </p:nvCxnSpPr>
        <p:spPr>
          <a:xfrm rot="5400000">
            <a:off x="3312849" y="3044808"/>
            <a:ext cx="21606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10" idx="2"/>
            <a:endCxn id="144" idx="0"/>
          </p:cNvCxnSpPr>
          <p:nvPr/>
        </p:nvCxnSpPr>
        <p:spPr>
          <a:xfrm rot="16200000" flipH="1">
            <a:off x="3334281" y="5370455"/>
            <a:ext cx="17320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순서도: 판단 17"/>
          <p:cNvSpPr/>
          <p:nvPr/>
        </p:nvSpPr>
        <p:spPr>
          <a:xfrm>
            <a:off x="2838662" y="430651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36000" y="440789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7112" y="581709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90496" y="4520952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4" name="직선 화살표 연결선 23"/>
          <p:cNvCxnSpPr>
            <a:stCxn id="18" idx="2"/>
            <a:endCxn id="10" idx="0"/>
          </p:cNvCxnSpPr>
          <p:nvPr/>
        </p:nvCxnSpPr>
        <p:spPr>
          <a:xfrm rot="5400000">
            <a:off x="3317702" y="4820676"/>
            <a:ext cx="206360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40" idx="2"/>
            <a:endCxn id="42" idx="0"/>
          </p:cNvCxnSpPr>
          <p:nvPr/>
        </p:nvCxnSpPr>
        <p:spPr>
          <a:xfrm rot="5400000">
            <a:off x="3305445" y="2461340"/>
            <a:ext cx="23087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2700881" y="198590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2" name="갈매기형 수장 41"/>
          <p:cNvSpPr/>
          <p:nvPr/>
        </p:nvSpPr>
        <p:spPr>
          <a:xfrm>
            <a:off x="2700881" y="257677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나의 스크랩북으로 이동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6" name="갈매기형 수장 45"/>
          <p:cNvSpPr/>
          <p:nvPr/>
        </p:nvSpPr>
        <p:spPr>
          <a:xfrm>
            <a:off x="2700881" y="6033120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좌석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>
            <a:stCxn id="157" idx="2"/>
            <a:endCxn id="179" idx="0"/>
          </p:cNvCxnSpPr>
          <p:nvPr/>
        </p:nvCxnSpPr>
        <p:spPr>
          <a:xfrm rot="16200000" flipH="1">
            <a:off x="3327157" y="7639011"/>
            <a:ext cx="187449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2700881" y="37288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추천 영화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3" name="직선 화살표 연결선 92"/>
          <p:cNvCxnSpPr>
            <a:stCxn id="8" idx="2"/>
            <a:endCxn id="51" idx="0"/>
          </p:cNvCxnSpPr>
          <p:nvPr/>
        </p:nvCxnSpPr>
        <p:spPr>
          <a:xfrm rot="5400000">
            <a:off x="3312869" y="3620852"/>
            <a:ext cx="21602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51" idx="2"/>
            <a:endCxn id="18" idx="0"/>
          </p:cNvCxnSpPr>
          <p:nvPr/>
        </p:nvCxnSpPr>
        <p:spPr>
          <a:xfrm rot="16200000" flipH="1">
            <a:off x="3312055" y="4197689"/>
            <a:ext cx="21765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갈매기형 수장 112"/>
          <p:cNvSpPr/>
          <p:nvPr/>
        </p:nvSpPr>
        <p:spPr>
          <a:xfrm>
            <a:off x="1844984" y="4304928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14" name="꺾인 연결선 113"/>
          <p:cNvCxnSpPr>
            <a:stCxn id="18" idx="1"/>
            <a:endCxn id="113" idx="0"/>
          </p:cNvCxnSpPr>
          <p:nvPr/>
        </p:nvCxnSpPr>
        <p:spPr>
          <a:xfrm rot="10800000">
            <a:off x="2097012" y="4304929"/>
            <a:ext cx="741650" cy="207079"/>
          </a:xfrm>
          <a:prstGeom prst="bentConnector4">
            <a:avLst>
              <a:gd name="adj1" fmla="val 33009"/>
              <a:gd name="adj2" fmla="val 21039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3"/>
          <p:cNvCxnSpPr>
            <a:stCxn id="113" idx="2"/>
            <a:endCxn id="10" idx="1"/>
          </p:cNvCxnSpPr>
          <p:nvPr/>
        </p:nvCxnSpPr>
        <p:spPr>
          <a:xfrm rot="16200000" flipH="1">
            <a:off x="2179482" y="4582457"/>
            <a:ext cx="438928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순서도: 판단 143"/>
          <p:cNvSpPr/>
          <p:nvPr/>
        </p:nvSpPr>
        <p:spPr>
          <a:xfrm>
            <a:off x="2838662" y="545705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3036000" y="555843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cxnSp>
        <p:nvCxnSpPr>
          <p:cNvPr id="146" name="직선 화살표 연결선 145"/>
          <p:cNvCxnSpPr>
            <a:stCxn id="144" idx="2"/>
            <a:endCxn id="46" idx="0"/>
          </p:cNvCxnSpPr>
          <p:nvPr/>
        </p:nvCxnSpPr>
        <p:spPr>
          <a:xfrm rot="5400000">
            <a:off x="3338340" y="5950577"/>
            <a:ext cx="165085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갈매기형 수장 146"/>
          <p:cNvSpPr/>
          <p:nvPr/>
        </p:nvSpPr>
        <p:spPr>
          <a:xfrm>
            <a:off x="1844984" y="545705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8" name="꺾인 연결선 113"/>
          <p:cNvCxnSpPr>
            <a:stCxn id="144" idx="1"/>
            <a:endCxn id="147" idx="0"/>
          </p:cNvCxnSpPr>
          <p:nvPr/>
        </p:nvCxnSpPr>
        <p:spPr>
          <a:xfrm rot="10800000">
            <a:off x="2097012" y="5457056"/>
            <a:ext cx="741650" cy="205490"/>
          </a:xfrm>
          <a:prstGeom prst="bentConnector4">
            <a:avLst>
              <a:gd name="adj1" fmla="val 33009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13"/>
          <p:cNvCxnSpPr>
            <a:stCxn id="147" idx="2"/>
            <a:endCxn id="46" idx="1"/>
          </p:cNvCxnSpPr>
          <p:nvPr/>
        </p:nvCxnSpPr>
        <p:spPr>
          <a:xfrm rot="16200000" flipH="1">
            <a:off x="2200914" y="5713153"/>
            <a:ext cx="396064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2997112" y="4664968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2493056" y="567308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2984934" y="693535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7" name="갈매기형 수장 156"/>
          <p:cNvSpPr/>
          <p:nvPr/>
        </p:nvSpPr>
        <p:spPr>
          <a:xfrm>
            <a:off x="2700881" y="71852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결제수단 자동선택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59" name="순서도: 판단 158"/>
          <p:cNvSpPr/>
          <p:nvPr/>
        </p:nvSpPr>
        <p:spPr>
          <a:xfrm>
            <a:off x="2838662" y="6575316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036000" y="6676690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61" name="갈매기형 수장 160"/>
          <p:cNvSpPr/>
          <p:nvPr/>
        </p:nvSpPr>
        <p:spPr>
          <a:xfrm>
            <a:off x="1844984" y="657531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62" name="꺾인 연결선 113"/>
          <p:cNvCxnSpPr>
            <a:endCxn id="161" idx="0"/>
          </p:cNvCxnSpPr>
          <p:nvPr/>
        </p:nvCxnSpPr>
        <p:spPr>
          <a:xfrm rot="10800000">
            <a:off x="2097012" y="6575316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13"/>
          <p:cNvCxnSpPr>
            <a:stCxn id="161" idx="2"/>
            <a:endCxn id="157" idx="1"/>
          </p:cNvCxnSpPr>
          <p:nvPr/>
        </p:nvCxnSpPr>
        <p:spPr>
          <a:xfrm rot="16200000" flipH="1">
            <a:off x="2183960" y="6848367"/>
            <a:ext cx="429972" cy="603869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2493056" y="679134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65" name="직선 화살표 연결선 164"/>
          <p:cNvCxnSpPr>
            <a:stCxn id="46" idx="2"/>
            <a:endCxn id="159" idx="0"/>
          </p:cNvCxnSpPr>
          <p:nvPr/>
        </p:nvCxnSpPr>
        <p:spPr>
          <a:xfrm rot="16200000" flipH="1">
            <a:off x="3329783" y="6484217"/>
            <a:ext cx="182196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>
            <a:stCxn id="159" idx="2"/>
            <a:endCxn id="157" idx="0"/>
          </p:cNvCxnSpPr>
          <p:nvPr/>
        </p:nvCxnSpPr>
        <p:spPr>
          <a:xfrm rot="5400000">
            <a:off x="3321386" y="7085791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968537" y="8092777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77" name="갈매기형 수장 176"/>
          <p:cNvSpPr/>
          <p:nvPr/>
        </p:nvSpPr>
        <p:spPr>
          <a:xfrm>
            <a:off x="2700881" y="8342709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79" name="순서도: 판단 178"/>
          <p:cNvSpPr/>
          <p:nvPr/>
        </p:nvSpPr>
        <p:spPr>
          <a:xfrm>
            <a:off x="2838662" y="7732737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036000" y="7834111"/>
            <a:ext cx="7697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디폴트 선택</a:t>
            </a:r>
            <a:endParaRPr lang="ko-KR" altLang="en-US" sz="900" dirty="0">
              <a:ea typeface="나눔고딕"/>
            </a:endParaRPr>
          </a:p>
        </p:txBody>
      </p:sp>
      <p:sp>
        <p:nvSpPr>
          <p:cNvPr id="181" name="갈매기형 수장 180"/>
          <p:cNvSpPr/>
          <p:nvPr/>
        </p:nvSpPr>
        <p:spPr>
          <a:xfrm>
            <a:off x="1828587" y="7732737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82" name="꺾인 연결선 113"/>
          <p:cNvCxnSpPr>
            <a:stCxn id="181" idx="2"/>
            <a:endCxn id="177" idx="1"/>
          </p:cNvCxnSpPr>
          <p:nvPr/>
        </p:nvCxnSpPr>
        <p:spPr>
          <a:xfrm rot="16200000" flipH="1">
            <a:off x="2175762" y="7997590"/>
            <a:ext cx="429972" cy="620266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13"/>
          <p:cNvCxnSpPr>
            <a:endCxn id="181" idx="0"/>
          </p:cNvCxnSpPr>
          <p:nvPr/>
        </p:nvCxnSpPr>
        <p:spPr>
          <a:xfrm rot="10800000">
            <a:off x="2080615" y="7732737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2476659" y="7948761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85" name="직선 화살표 연결선 184"/>
          <p:cNvCxnSpPr>
            <a:stCxn id="179" idx="2"/>
            <a:endCxn id="177" idx="0"/>
          </p:cNvCxnSpPr>
          <p:nvPr/>
        </p:nvCxnSpPr>
        <p:spPr>
          <a:xfrm rot="5400000">
            <a:off x="3321386" y="8243212"/>
            <a:ext cx="198993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/>
          <p:cNvCxnSpPr>
            <a:stCxn id="177" idx="2"/>
            <a:endCxn id="12" idx="0"/>
          </p:cNvCxnSpPr>
          <p:nvPr/>
        </p:nvCxnSpPr>
        <p:spPr>
          <a:xfrm rot="5400000">
            <a:off x="3315496" y="8808094"/>
            <a:ext cx="210771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3062930" y="1352640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즐겨찾기의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CGV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들어옮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1334578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9" name="갈매기형 수장 8"/>
          <p:cNvSpPr/>
          <p:nvPr/>
        </p:nvSpPr>
        <p:spPr>
          <a:xfrm>
            <a:off x="7821488" y="4880992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ea typeface="나눔고딕"/>
              </a:rPr>
              <a:t>CGV</a:t>
            </a:r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로</a:t>
            </a:r>
            <a:endParaRPr lang="en-US" altLang="ko-KR" sz="900" dirty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이동</a:t>
            </a:r>
          </a:p>
        </p:txBody>
      </p:sp>
      <p:sp>
        <p:nvSpPr>
          <p:cNvPr id="10" name="갈매기형 수장 9"/>
          <p:cNvSpPr/>
          <p:nvPr/>
        </p:nvSpPr>
        <p:spPr>
          <a:xfrm>
            <a:off x="1334578" y="49958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2996952" y="93454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rot="5400000">
            <a:off x="3692930" y="180184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endCxn id="68" idx="0"/>
          </p:cNvCxnSpPr>
          <p:nvPr/>
        </p:nvCxnSpPr>
        <p:spPr>
          <a:xfrm rot="5400000">
            <a:off x="3603564" y="3043974"/>
            <a:ext cx="360080" cy="166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rot="5400000">
            <a:off x="1964578" y="543827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80"/>
          <p:cNvGrpSpPr/>
          <p:nvPr/>
        </p:nvGrpSpPr>
        <p:grpSpPr>
          <a:xfrm>
            <a:off x="1472244" y="4378525"/>
            <a:ext cx="1164439" cy="410979"/>
            <a:chOff x="1264429" y="6105706"/>
            <a:chExt cx="1164439" cy="410979"/>
          </a:xfrm>
        </p:grpSpPr>
        <p:sp>
          <p:nvSpPr>
            <p:cNvPr id="18" name="순서도: 판단 17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70674" y="6207080"/>
              <a:ext cx="7697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영화관 결정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28800" y="5889104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2184" y="459296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4" name="직선 화살표 연결선 23"/>
          <p:cNvCxnSpPr>
            <a:endCxn id="10" idx="0"/>
          </p:cNvCxnSpPr>
          <p:nvPr/>
        </p:nvCxnSpPr>
        <p:spPr>
          <a:xfrm rot="16200000" flipH="1">
            <a:off x="1951341" y="4892627"/>
            <a:ext cx="206360" cy="1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8323373" y="6656682"/>
            <a:ext cx="1436711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분류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기준별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조건 항목 복수 지정 가능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8045572" y="6870996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42" idx="2"/>
            <a:endCxn id="69" idx="0"/>
          </p:cNvCxnSpPr>
          <p:nvPr/>
        </p:nvCxnSpPr>
        <p:spPr>
          <a:xfrm rot="16200000" flipH="1">
            <a:off x="4467006" y="2180732"/>
            <a:ext cx="360040" cy="172819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rot="5400000">
            <a:off x="8025790" y="53988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34"/>
          <p:cNvSpPr/>
          <p:nvPr/>
        </p:nvSpPr>
        <p:spPr>
          <a:xfrm>
            <a:off x="8323373" y="8101344"/>
            <a:ext cx="1508149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회원가입 후 스크랩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스크랩 항목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폴더링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Excel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파일로 리스트 다운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8037622" y="8307707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5400000">
            <a:off x="3692930" y="23419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3062930" y="191389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2" name="갈매기형 수장 41"/>
          <p:cNvSpPr/>
          <p:nvPr/>
        </p:nvSpPr>
        <p:spPr>
          <a:xfrm>
            <a:off x="3062930" y="250480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 우선순위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6" name="갈매기형 수장 45"/>
          <p:cNvSpPr/>
          <p:nvPr/>
        </p:nvSpPr>
        <p:spPr>
          <a:xfrm>
            <a:off x="1340768" y="610512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좌석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rot="5400000">
            <a:off x="8025790" y="59320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갈매기형 수장 47"/>
          <p:cNvSpPr/>
          <p:nvPr/>
        </p:nvSpPr>
        <p:spPr>
          <a:xfrm>
            <a:off x="7821488" y="6031565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 rot="5400000">
            <a:off x="1971642" y="770650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1334578" y="3800872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자주가는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영화관 자동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 rot="5400000">
            <a:off x="3699834" y="542606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rot="5400000">
            <a:off x="8025790" y="763293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갈매기형 수장 58"/>
          <p:cNvSpPr/>
          <p:nvPr/>
        </p:nvSpPr>
        <p:spPr>
          <a:xfrm>
            <a:off x="7395790" y="772373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0" name="오각형 59"/>
          <p:cNvSpPr/>
          <p:nvPr/>
        </p:nvSpPr>
        <p:spPr>
          <a:xfrm>
            <a:off x="3068960" y="3800912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나의 영화로 이동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1" name="갈매기형 수장 60"/>
          <p:cNvSpPr/>
          <p:nvPr/>
        </p:nvSpPr>
        <p:spPr>
          <a:xfrm>
            <a:off x="5943090" y="862540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예매취소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2" name="갈매기형 수장 61"/>
          <p:cNvSpPr/>
          <p:nvPr/>
        </p:nvSpPr>
        <p:spPr>
          <a:xfrm>
            <a:off x="9399474" y="2864768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ea typeface="나눔고딕"/>
              </a:rPr>
              <a:t>CGV</a:t>
            </a:r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로</a:t>
            </a:r>
            <a:endParaRPr lang="en-US" altLang="ko-KR" sz="900" dirty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이동</a:t>
            </a:r>
          </a:p>
        </p:txBody>
      </p:sp>
      <p:sp>
        <p:nvSpPr>
          <p:cNvPr id="63" name="갈매기형 수장 62"/>
          <p:cNvSpPr/>
          <p:nvPr/>
        </p:nvSpPr>
        <p:spPr>
          <a:xfrm>
            <a:off x="5943090" y="9163582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완</a:t>
            </a:r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료</a:t>
            </a:r>
          </a:p>
        </p:txBody>
      </p:sp>
      <p:sp>
        <p:nvSpPr>
          <p:cNvPr id="64" name="갈매기형 수장 63"/>
          <p:cNvSpPr/>
          <p:nvPr/>
        </p:nvSpPr>
        <p:spPr>
          <a:xfrm>
            <a:off x="8973776" y="4623659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관람인수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 rot="5400000">
            <a:off x="3699834" y="425545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rot="5400000">
            <a:off x="6573090" y="9074653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rot="5400000">
            <a:off x="9603776" y="507823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rot="5400000">
            <a:off x="9603776" y="338260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rot="5400000">
            <a:off x="6573090" y="792248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갈매기형 수장 77"/>
          <p:cNvSpPr/>
          <p:nvPr/>
        </p:nvSpPr>
        <p:spPr>
          <a:xfrm>
            <a:off x="3068960" y="437693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정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취소 할 영화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 rot="5400000">
            <a:off x="6573090" y="84985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갈매기형 수장 79"/>
          <p:cNvSpPr/>
          <p:nvPr/>
        </p:nvSpPr>
        <p:spPr>
          <a:xfrm>
            <a:off x="5943090" y="804934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예매내역 확인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1" name="갈매기형 수장 80"/>
          <p:cNvSpPr/>
          <p:nvPr/>
        </p:nvSpPr>
        <p:spPr>
          <a:xfrm>
            <a:off x="8973776" y="347153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2" name="직선 화살표 연결선 81"/>
          <p:cNvCxnSpPr/>
          <p:nvPr/>
        </p:nvCxnSpPr>
        <p:spPr>
          <a:xfrm rot="5400000">
            <a:off x="9603776" y="391735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갈매기형 수장 82"/>
          <p:cNvSpPr/>
          <p:nvPr/>
        </p:nvSpPr>
        <p:spPr>
          <a:xfrm>
            <a:off x="9399474" y="4016896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 rot="5400000">
            <a:off x="9603776" y="45381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rot="5400000">
            <a:off x="9603776" y="27379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갈매기형 수장 86"/>
          <p:cNvSpPr/>
          <p:nvPr/>
        </p:nvSpPr>
        <p:spPr>
          <a:xfrm>
            <a:off x="8973776" y="516902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좌석석택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8" name="직선 화살표 연결선 87"/>
          <p:cNvCxnSpPr/>
          <p:nvPr/>
        </p:nvCxnSpPr>
        <p:spPr>
          <a:xfrm rot="5400000">
            <a:off x="9603776" y="561827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갈매기형 수장 88"/>
          <p:cNvSpPr/>
          <p:nvPr/>
        </p:nvSpPr>
        <p:spPr>
          <a:xfrm>
            <a:off x="8973776" y="57090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 rot="5400000">
            <a:off x="8025790" y="817305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갈매기형 수장 96"/>
          <p:cNvSpPr/>
          <p:nvPr/>
        </p:nvSpPr>
        <p:spPr>
          <a:xfrm>
            <a:off x="7395790" y="826385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예매완료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8" name="갈매기형 수장 67"/>
          <p:cNvSpPr/>
          <p:nvPr/>
        </p:nvSpPr>
        <p:spPr>
          <a:xfrm>
            <a:off x="3062770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날짜와 시간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9" name="갈매기형 수장 68"/>
          <p:cNvSpPr/>
          <p:nvPr/>
        </p:nvSpPr>
        <p:spPr>
          <a:xfrm>
            <a:off x="4791122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영화관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70" name="꺾인 연결선 69"/>
          <p:cNvCxnSpPr>
            <a:stCxn id="42" idx="2"/>
            <a:endCxn id="8" idx="0"/>
          </p:cNvCxnSpPr>
          <p:nvPr/>
        </p:nvCxnSpPr>
        <p:spPr>
          <a:xfrm rot="5400000">
            <a:off x="2738734" y="2180652"/>
            <a:ext cx="360040" cy="172835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stCxn id="8" idx="2"/>
            <a:endCxn id="51" idx="0"/>
          </p:cNvCxnSpPr>
          <p:nvPr/>
        </p:nvCxnSpPr>
        <p:spPr>
          <a:xfrm rot="5400000">
            <a:off x="1946566" y="3692860"/>
            <a:ext cx="21602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 rot="5400000">
            <a:off x="3699834" y="482618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51" idx="2"/>
          </p:cNvCxnSpPr>
          <p:nvPr/>
        </p:nvCxnSpPr>
        <p:spPr>
          <a:xfrm rot="16200000" flipH="1">
            <a:off x="1954548" y="4260901"/>
            <a:ext cx="200141" cy="8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갈매기형 수장 112"/>
          <p:cNvSpPr/>
          <p:nvPr/>
        </p:nvSpPr>
        <p:spPr>
          <a:xfrm>
            <a:off x="476672" y="437693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14" name="꺾인 연결선 113"/>
          <p:cNvCxnSpPr>
            <a:stCxn id="18" idx="1"/>
            <a:endCxn id="113" idx="0"/>
          </p:cNvCxnSpPr>
          <p:nvPr/>
        </p:nvCxnSpPr>
        <p:spPr>
          <a:xfrm rot="10800000">
            <a:off x="728700" y="4376937"/>
            <a:ext cx="743544" cy="207079"/>
          </a:xfrm>
          <a:prstGeom prst="bentConnector4">
            <a:avLst>
              <a:gd name="adj1" fmla="val 33052"/>
              <a:gd name="adj2" fmla="val 21039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3"/>
          <p:cNvCxnSpPr>
            <a:stCxn id="113" idx="2"/>
            <a:endCxn id="10" idx="1"/>
          </p:cNvCxnSpPr>
          <p:nvPr/>
        </p:nvCxnSpPr>
        <p:spPr>
          <a:xfrm rot="16200000" flipH="1">
            <a:off x="812175" y="4653461"/>
            <a:ext cx="438928" cy="60587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80"/>
          <p:cNvGrpSpPr/>
          <p:nvPr/>
        </p:nvGrpSpPr>
        <p:grpSpPr>
          <a:xfrm>
            <a:off x="1484784" y="5529064"/>
            <a:ext cx="1164439" cy="410979"/>
            <a:chOff x="1264429" y="6105706"/>
            <a:chExt cx="1164439" cy="410979"/>
          </a:xfrm>
        </p:grpSpPr>
        <p:sp>
          <p:nvSpPr>
            <p:cNvPr id="144" name="순서도: 판단 143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cxnSp>
        <p:nvCxnSpPr>
          <p:cNvPr id="146" name="직선 화살표 연결선 145"/>
          <p:cNvCxnSpPr/>
          <p:nvPr/>
        </p:nvCxnSpPr>
        <p:spPr>
          <a:xfrm rot="5400000">
            <a:off x="1971642" y="6031268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갈매기형 수장 146"/>
          <p:cNvSpPr/>
          <p:nvPr/>
        </p:nvSpPr>
        <p:spPr>
          <a:xfrm>
            <a:off x="476672" y="5529064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8" name="꺾인 연결선 113"/>
          <p:cNvCxnSpPr>
            <a:stCxn id="144" idx="1"/>
            <a:endCxn id="147" idx="0"/>
          </p:cNvCxnSpPr>
          <p:nvPr/>
        </p:nvCxnSpPr>
        <p:spPr>
          <a:xfrm rot="10800000">
            <a:off x="728700" y="5529064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13"/>
          <p:cNvCxnSpPr>
            <a:stCxn id="147" idx="2"/>
            <a:endCxn id="46" idx="1"/>
          </p:cNvCxnSpPr>
          <p:nvPr/>
        </p:nvCxnSpPr>
        <p:spPr>
          <a:xfrm rot="16200000" flipH="1">
            <a:off x="836702" y="5781062"/>
            <a:ext cx="396064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628800" y="473697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124744" y="574508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1616622" y="7007364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7" name="갈매기형 수장 156"/>
          <p:cNvSpPr/>
          <p:nvPr/>
        </p:nvSpPr>
        <p:spPr>
          <a:xfrm>
            <a:off x="1340768" y="725729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결제수단 자동선택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grpSp>
        <p:nvGrpSpPr>
          <p:cNvPr id="11" name="그룹 80"/>
          <p:cNvGrpSpPr/>
          <p:nvPr/>
        </p:nvGrpSpPr>
        <p:grpSpPr>
          <a:xfrm>
            <a:off x="1484784" y="6647324"/>
            <a:ext cx="1164439" cy="410979"/>
            <a:chOff x="1264429" y="6105706"/>
            <a:chExt cx="1164439" cy="410979"/>
          </a:xfrm>
        </p:grpSpPr>
        <p:sp>
          <p:nvSpPr>
            <p:cNvPr id="159" name="순서도: 판단 158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161" name="갈매기형 수장 160"/>
          <p:cNvSpPr/>
          <p:nvPr/>
        </p:nvSpPr>
        <p:spPr>
          <a:xfrm>
            <a:off x="476672" y="6647324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62" name="꺾인 연결선 113"/>
          <p:cNvCxnSpPr>
            <a:endCxn id="161" idx="0"/>
          </p:cNvCxnSpPr>
          <p:nvPr/>
        </p:nvCxnSpPr>
        <p:spPr>
          <a:xfrm rot="10800000">
            <a:off x="728700" y="6647324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13"/>
          <p:cNvCxnSpPr>
            <a:stCxn id="161" idx="2"/>
            <a:endCxn id="157" idx="1"/>
          </p:cNvCxnSpPr>
          <p:nvPr/>
        </p:nvCxnSpPr>
        <p:spPr>
          <a:xfrm rot="16200000" flipH="1">
            <a:off x="819748" y="6916276"/>
            <a:ext cx="429972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1124744" y="686334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65" name="직선 화살표 연결선 164"/>
          <p:cNvCxnSpPr/>
          <p:nvPr/>
        </p:nvCxnSpPr>
        <p:spPr>
          <a:xfrm rot="5400000">
            <a:off x="1971642" y="6554374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/>
          <p:nvPr/>
        </p:nvCxnSpPr>
        <p:spPr>
          <a:xfrm rot="5400000">
            <a:off x="1971642" y="7149528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1600225" y="8164785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77" name="갈매기형 수장 176"/>
          <p:cNvSpPr/>
          <p:nvPr/>
        </p:nvSpPr>
        <p:spPr>
          <a:xfrm>
            <a:off x="1324371" y="841471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grpSp>
        <p:nvGrpSpPr>
          <p:cNvPr id="13" name="그룹 80"/>
          <p:cNvGrpSpPr/>
          <p:nvPr/>
        </p:nvGrpSpPr>
        <p:grpSpPr>
          <a:xfrm>
            <a:off x="1468387" y="7804745"/>
            <a:ext cx="1164439" cy="410979"/>
            <a:chOff x="1264429" y="6105706"/>
            <a:chExt cx="1164439" cy="410979"/>
          </a:xfrm>
        </p:grpSpPr>
        <p:sp>
          <p:nvSpPr>
            <p:cNvPr id="179" name="순서도: 판단 178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181" name="갈매기형 수장 180"/>
          <p:cNvSpPr/>
          <p:nvPr/>
        </p:nvSpPr>
        <p:spPr>
          <a:xfrm>
            <a:off x="460275" y="7804745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82" name="꺾인 연결선 113"/>
          <p:cNvCxnSpPr>
            <a:stCxn id="181" idx="2"/>
            <a:endCxn id="177" idx="1"/>
          </p:cNvCxnSpPr>
          <p:nvPr/>
        </p:nvCxnSpPr>
        <p:spPr>
          <a:xfrm rot="16200000" flipH="1">
            <a:off x="803351" y="8073697"/>
            <a:ext cx="429972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13"/>
          <p:cNvCxnSpPr>
            <a:stCxn id="179" idx="1"/>
            <a:endCxn id="181" idx="0"/>
          </p:cNvCxnSpPr>
          <p:nvPr/>
        </p:nvCxnSpPr>
        <p:spPr>
          <a:xfrm rot="10800000">
            <a:off x="712303" y="7804745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108347" y="8020769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85" name="직선 화살표 연결선 184"/>
          <p:cNvCxnSpPr/>
          <p:nvPr/>
        </p:nvCxnSpPr>
        <p:spPr>
          <a:xfrm rot="5400000">
            <a:off x="1955245" y="830694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80"/>
          <p:cNvGrpSpPr/>
          <p:nvPr/>
        </p:nvGrpSpPr>
        <p:grpSpPr>
          <a:xfrm>
            <a:off x="1484784" y="8951540"/>
            <a:ext cx="1164439" cy="410979"/>
            <a:chOff x="1264429" y="6105706"/>
            <a:chExt cx="1164439" cy="410979"/>
          </a:xfrm>
        </p:grpSpPr>
        <p:sp>
          <p:nvSpPr>
            <p:cNvPr id="191" name="순서도: 판단 190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450639" y="6207080"/>
              <a:ext cx="8098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취소 및 수정</a:t>
              </a:r>
              <a:endParaRPr lang="ko-KR" altLang="en-US" sz="900" dirty="0">
                <a:ea typeface="나눔고딕"/>
              </a:endParaRPr>
            </a:p>
          </p:txBody>
        </p:sp>
      </p:grpSp>
      <p:cxnSp>
        <p:nvCxnSpPr>
          <p:cNvPr id="193" name="직선 화살표 연결선 192"/>
          <p:cNvCxnSpPr/>
          <p:nvPr/>
        </p:nvCxnSpPr>
        <p:spPr>
          <a:xfrm rot="5400000">
            <a:off x="1971642" y="885863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91" idx="2"/>
            <a:endCxn id="12" idx="1"/>
          </p:cNvCxnSpPr>
          <p:nvPr/>
        </p:nvCxnSpPr>
        <p:spPr>
          <a:xfrm rot="16200000" flipH="1">
            <a:off x="2450494" y="8979029"/>
            <a:ext cx="162969" cy="92994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꺾인 연결선 194"/>
          <p:cNvCxnSpPr>
            <a:stCxn id="191" idx="3"/>
            <a:endCxn id="60" idx="1"/>
          </p:cNvCxnSpPr>
          <p:nvPr/>
        </p:nvCxnSpPr>
        <p:spPr>
          <a:xfrm flipV="1">
            <a:off x="2649223" y="3980912"/>
            <a:ext cx="419737" cy="5176118"/>
          </a:xfrm>
          <a:prstGeom prst="bentConnector3">
            <a:avLst>
              <a:gd name="adj1" fmla="val 59077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2420888" y="9527604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2492896" y="8913440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35" name="갈매기형 수장 134"/>
          <p:cNvSpPr/>
          <p:nvPr/>
        </p:nvSpPr>
        <p:spPr>
          <a:xfrm>
            <a:off x="3068960" y="498633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정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취소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3062930" y="1352640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즐겨찾기의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CGV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들어옮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1334578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9" name="갈매기형 수장 8"/>
          <p:cNvSpPr/>
          <p:nvPr/>
        </p:nvSpPr>
        <p:spPr>
          <a:xfrm>
            <a:off x="7821488" y="4880992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ea typeface="나눔고딕"/>
              </a:rPr>
              <a:t>CGV</a:t>
            </a:r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로</a:t>
            </a:r>
            <a:endParaRPr lang="en-US" altLang="ko-KR" sz="900" dirty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이동</a:t>
            </a:r>
          </a:p>
        </p:txBody>
      </p:sp>
      <p:sp>
        <p:nvSpPr>
          <p:cNvPr id="10" name="갈매기형 수장 9"/>
          <p:cNvSpPr/>
          <p:nvPr/>
        </p:nvSpPr>
        <p:spPr>
          <a:xfrm>
            <a:off x="1334578" y="49958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2996952" y="93454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rot="5400000">
            <a:off x="3692930" y="180184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endCxn id="68" idx="0"/>
          </p:cNvCxnSpPr>
          <p:nvPr/>
        </p:nvCxnSpPr>
        <p:spPr>
          <a:xfrm rot="5400000">
            <a:off x="3603564" y="3043974"/>
            <a:ext cx="360080" cy="166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rot="5400000">
            <a:off x="1964578" y="543827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80"/>
          <p:cNvGrpSpPr/>
          <p:nvPr/>
        </p:nvGrpSpPr>
        <p:grpSpPr>
          <a:xfrm>
            <a:off x="1472244" y="4378525"/>
            <a:ext cx="1164439" cy="410979"/>
            <a:chOff x="1264429" y="6105706"/>
            <a:chExt cx="1164439" cy="410979"/>
          </a:xfrm>
        </p:grpSpPr>
        <p:sp>
          <p:nvSpPr>
            <p:cNvPr id="18" name="순서도: 판단 17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70674" y="6207080"/>
              <a:ext cx="7697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영화관 결정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28800" y="5889104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2184" y="459296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4" name="직선 화살표 연결선 23"/>
          <p:cNvCxnSpPr>
            <a:endCxn id="10" idx="0"/>
          </p:cNvCxnSpPr>
          <p:nvPr/>
        </p:nvCxnSpPr>
        <p:spPr>
          <a:xfrm rot="16200000" flipH="1">
            <a:off x="1951341" y="4892627"/>
            <a:ext cx="206360" cy="1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8323373" y="6656682"/>
            <a:ext cx="1436711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분류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기준별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조건 항목 복수 지정 가능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8045572" y="6870996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42" idx="2"/>
            <a:endCxn id="69" idx="0"/>
          </p:cNvCxnSpPr>
          <p:nvPr/>
        </p:nvCxnSpPr>
        <p:spPr>
          <a:xfrm rot="16200000" flipH="1">
            <a:off x="4467006" y="2180732"/>
            <a:ext cx="360040" cy="172819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rot="5400000">
            <a:off x="8025790" y="53988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34"/>
          <p:cNvSpPr/>
          <p:nvPr/>
        </p:nvSpPr>
        <p:spPr>
          <a:xfrm>
            <a:off x="8323373" y="8101344"/>
            <a:ext cx="1508149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회원가입 후 스크랩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스크랩 항목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폴더링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Excel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파일로 리스트 다운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8037622" y="8307707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5400000">
            <a:off x="3692930" y="23419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3062930" y="191389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2" name="갈매기형 수장 41"/>
          <p:cNvSpPr/>
          <p:nvPr/>
        </p:nvSpPr>
        <p:spPr>
          <a:xfrm>
            <a:off x="3062930" y="250480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 우선순위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6" name="갈매기형 수장 45"/>
          <p:cNvSpPr/>
          <p:nvPr/>
        </p:nvSpPr>
        <p:spPr>
          <a:xfrm>
            <a:off x="1340768" y="610512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좌석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rot="5400000">
            <a:off x="8025790" y="59320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갈매기형 수장 47"/>
          <p:cNvSpPr/>
          <p:nvPr/>
        </p:nvSpPr>
        <p:spPr>
          <a:xfrm>
            <a:off x="7821488" y="6031565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 rot="5400000">
            <a:off x="1971642" y="770650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1334578" y="3800872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자주가는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영화관 자동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 rot="5400000">
            <a:off x="3699834" y="542606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rot="5400000">
            <a:off x="8025790" y="763293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갈매기형 수장 58"/>
          <p:cNvSpPr/>
          <p:nvPr/>
        </p:nvSpPr>
        <p:spPr>
          <a:xfrm>
            <a:off x="7395790" y="772373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0" name="오각형 59"/>
          <p:cNvSpPr/>
          <p:nvPr/>
        </p:nvSpPr>
        <p:spPr>
          <a:xfrm>
            <a:off x="3068960" y="3800912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나의 영화로 이동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1" name="갈매기형 수장 60"/>
          <p:cNvSpPr/>
          <p:nvPr/>
        </p:nvSpPr>
        <p:spPr>
          <a:xfrm>
            <a:off x="5943090" y="862540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예매취소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2" name="갈매기형 수장 61"/>
          <p:cNvSpPr/>
          <p:nvPr/>
        </p:nvSpPr>
        <p:spPr>
          <a:xfrm>
            <a:off x="9399474" y="2864768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ea typeface="나눔고딕"/>
              </a:rPr>
              <a:t>CGV</a:t>
            </a:r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로</a:t>
            </a:r>
            <a:endParaRPr lang="en-US" altLang="ko-KR" sz="900" dirty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이동</a:t>
            </a:r>
          </a:p>
        </p:txBody>
      </p:sp>
      <p:sp>
        <p:nvSpPr>
          <p:cNvPr id="63" name="갈매기형 수장 62"/>
          <p:cNvSpPr/>
          <p:nvPr/>
        </p:nvSpPr>
        <p:spPr>
          <a:xfrm>
            <a:off x="5943090" y="9163582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완</a:t>
            </a:r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료</a:t>
            </a:r>
          </a:p>
        </p:txBody>
      </p:sp>
      <p:sp>
        <p:nvSpPr>
          <p:cNvPr id="64" name="갈매기형 수장 63"/>
          <p:cNvSpPr/>
          <p:nvPr/>
        </p:nvSpPr>
        <p:spPr>
          <a:xfrm>
            <a:off x="8973776" y="4623659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관람인수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 rot="5400000">
            <a:off x="3699834" y="425545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rot="5400000">
            <a:off x="6573090" y="9074653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rot="5400000">
            <a:off x="9603776" y="507823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rot="5400000">
            <a:off x="9603776" y="338260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rot="5400000">
            <a:off x="6573090" y="792248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갈매기형 수장 77"/>
          <p:cNvSpPr/>
          <p:nvPr/>
        </p:nvSpPr>
        <p:spPr>
          <a:xfrm>
            <a:off x="3068960" y="437693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정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취소 할 영화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 rot="5400000">
            <a:off x="6573090" y="84985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갈매기형 수장 79"/>
          <p:cNvSpPr/>
          <p:nvPr/>
        </p:nvSpPr>
        <p:spPr>
          <a:xfrm>
            <a:off x="5943090" y="804934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예매내역 확인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1" name="갈매기형 수장 80"/>
          <p:cNvSpPr/>
          <p:nvPr/>
        </p:nvSpPr>
        <p:spPr>
          <a:xfrm>
            <a:off x="8973776" y="347153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2" name="직선 화살표 연결선 81"/>
          <p:cNvCxnSpPr/>
          <p:nvPr/>
        </p:nvCxnSpPr>
        <p:spPr>
          <a:xfrm rot="5400000">
            <a:off x="9603776" y="391735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갈매기형 수장 82"/>
          <p:cNvSpPr/>
          <p:nvPr/>
        </p:nvSpPr>
        <p:spPr>
          <a:xfrm>
            <a:off x="9399474" y="4016896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 rot="5400000">
            <a:off x="9603776" y="45381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rot="5400000">
            <a:off x="9603776" y="27379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갈매기형 수장 86"/>
          <p:cNvSpPr/>
          <p:nvPr/>
        </p:nvSpPr>
        <p:spPr>
          <a:xfrm>
            <a:off x="8973776" y="516902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좌석석택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8" name="직선 화살표 연결선 87"/>
          <p:cNvCxnSpPr/>
          <p:nvPr/>
        </p:nvCxnSpPr>
        <p:spPr>
          <a:xfrm rot="5400000">
            <a:off x="9603776" y="561827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갈매기형 수장 88"/>
          <p:cNvSpPr/>
          <p:nvPr/>
        </p:nvSpPr>
        <p:spPr>
          <a:xfrm>
            <a:off x="8973776" y="57090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 rot="5400000">
            <a:off x="8025790" y="817305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갈매기형 수장 96"/>
          <p:cNvSpPr/>
          <p:nvPr/>
        </p:nvSpPr>
        <p:spPr>
          <a:xfrm>
            <a:off x="7395790" y="826385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예매완료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8" name="갈매기형 수장 67"/>
          <p:cNvSpPr/>
          <p:nvPr/>
        </p:nvSpPr>
        <p:spPr>
          <a:xfrm>
            <a:off x="3062770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날짜와 시간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9" name="갈매기형 수장 68"/>
          <p:cNvSpPr/>
          <p:nvPr/>
        </p:nvSpPr>
        <p:spPr>
          <a:xfrm>
            <a:off x="4791122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영화관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70" name="꺾인 연결선 69"/>
          <p:cNvCxnSpPr>
            <a:stCxn id="42" idx="2"/>
            <a:endCxn id="8" idx="0"/>
          </p:cNvCxnSpPr>
          <p:nvPr/>
        </p:nvCxnSpPr>
        <p:spPr>
          <a:xfrm rot="5400000">
            <a:off x="2738734" y="2180652"/>
            <a:ext cx="360040" cy="172835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stCxn id="8" idx="2"/>
            <a:endCxn id="51" idx="0"/>
          </p:cNvCxnSpPr>
          <p:nvPr/>
        </p:nvCxnSpPr>
        <p:spPr>
          <a:xfrm rot="5400000">
            <a:off x="1946566" y="3692860"/>
            <a:ext cx="21602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 rot="5400000">
            <a:off x="3699834" y="482618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51" idx="2"/>
          </p:cNvCxnSpPr>
          <p:nvPr/>
        </p:nvCxnSpPr>
        <p:spPr>
          <a:xfrm rot="16200000" flipH="1">
            <a:off x="1954548" y="4260901"/>
            <a:ext cx="200141" cy="8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갈매기형 수장 112"/>
          <p:cNvSpPr/>
          <p:nvPr/>
        </p:nvSpPr>
        <p:spPr>
          <a:xfrm>
            <a:off x="476672" y="437693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14" name="꺾인 연결선 113"/>
          <p:cNvCxnSpPr>
            <a:stCxn id="18" idx="1"/>
            <a:endCxn id="113" idx="0"/>
          </p:cNvCxnSpPr>
          <p:nvPr/>
        </p:nvCxnSpPr>
        <p:spPr>
          <a:xfrm rot="10800000">
            <a:off x="728700" y="4376937"/>
            <a:ext cx="743544" cy="207079"/>
          </a:xfrm>
          <a:prstGeom prst="bentConnector4">
            <a:avLst>
              <a:gd name="adj1" fmla="val 33052"/>
              <a:gd name="adj2" fmla="val 21039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3"/>
          <p:cNvCxnSpPr>
            <a:stCxn id="113" idx="2"/>
            <a:endCxn id="10" idx="1"/>
          </p:cNvCxnSpPr>
          <p:nvPr/>
        </p:nvCxnSpPr>
        <p:spPr>
          <a:xfrm rot="16200000" flipH="1">
            <a:off x="812175" y="4653461"/>
            <a:ext cx="438928" cy="60587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80"/>
          <p:cNvGrpSpPr/>
          <p:nvPr/>
        </p:nvGrpSpPr>
        <p:grpSpPr>
          <a:xfrm>
            <a:off x="1484784" y="5529064"/>
            <a:ext cx="1164439" cy="410979"/>
            <a:chOff x="1264429" y="6105706"/>
            <a:chExt cx="1164439" cy="410979"/>
          </a:xfrm>
        </p:grpSpPr>
        <p:sp>
          <p:nvSpPr>
            <p:cNvPr id="144" name="순서도: 판단 143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cxnSp>
        <p:nvCxnSpPr>
          <p:cNvPr id="146" name="직선 화살표 연결선 145"/>
          <p:cNvCxnSpPr/>
          <p:nvPr/>
        </p:nvCxnSpPr>
        <p:spPr>
          <a:xfrm rot="5400000">
            <a:off x="1971642" y="6031268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갈매기형 수장 146"/>
          <p:cNvSpPr/>
          <p:nvPr/>
        </p:nvSpPr>
        <p:spPr>
          <a:xfrm>
            <a:off x="476672" y="5529064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8" name="꺾인 연결선 113"/>
          <p:cNvCxnSpPr>
            <a:stCxn id="144" idx="1"/>
            <a:endCxn id="147" idx="0"/>
          </p:cNvCxnSpPr>
          <p:nvPr/>
        </p:nvCxnSpPr>
        <p:spPr>
          <a:xfrm rot="10800000">
            <a:off x="728700" y="5529064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13"/>
          <p:cNvCxnSpPr>
            <a:stCxn id="147" idx="2"/>
            <a:endCxn id="46" idx="1"/>
          </p:cNvCxnSpPr>
          <p:nvPr/>
        </p:nvCxnSpPr>
        <p:spPr>
          <a:xfrm rot="16200000" flipH="1">
            <a:off x="836702" y="5781062"/>
            <a:ext cx="396064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628800" y="473697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124744" y="574508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1616622" y="7007364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7" name="갈매기형 수장 156"/>
          <p:cNvSpPr/>
          <p:nvPr/>
        </p:nvSpPr>
        <p:spPr>
          <a:xfrm>
            <a:off x="1340768" y="725729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결제수단 자동선택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grpSp>
        <p:nvGrpSpPr>
          <p:cNvPr id="11" name="그룹 80"/>
          <p:cNvGrpSpPr/>
          <p:nvPr/>
        </p:nvGrpSpPr>
        <p:grpSpPr>
          <a:xfrm>
            <a:off x="1484784" y="6647324"/>
            <a:ext cx="1164439" cy="410979"/>
            <a:chOff x="1264429" y="6105706"/>
            <a:chExt cx="1164439" cy="410979"/>
          </a:xfrm>
        </p:grpSpPr>
        <p:sp>
          <p:nvSpPr>
            <p:cNvPr id="159" name="순서도: 판단 158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161" name="갈매기형 수장 160"/>
          <p:cNvSpPr/>
          <p:nvPr/>
        </p:nvSpPr>
        <p:spPr>
          <a:xfrm>
            <a:off x="476672" y="6647324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62" name="꺾인 연결선 113"/>
          <p:cNvCxnSpPr>
            <a:endCxn id="161" idx="0"/>
          </p:cNvCxnSpPr>
          <p:nvPr/>
        </p:nvCxnSpPr>
        <p:spPr>
          <a:xfrm rot="10800000">
            <a:off x="728700" y="6647324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13"/>
          <p:cNvCxnSpPr>
            <a:stCxn id="161" idx="2"/>
            <a:endCxn id="157" idx="1"/>
          </p:cNvCxnSpPr>
          <p:nvPr/>
        </p:nvCxnSpPr>
        <p:spPr>
          <a:xfrm rot="16200000" flipH="1">
            <a:off x="819748" y="6916276"/>
            <a:ext cx="429972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1124744" y="686334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65" name="직선 화살표 연결선 164"/>
          <p:cNvCxnSpPr/>
          <p:nvPr/>
        </p:nvCxnSpPr>
        <p:spPr>
          <a:xfrm rot="5400000">
            <a:off x="1971642" y="6554374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/>
          <p:nvPr/>
        </p:nvCxnSpPr>
        <p:spPr>
          <a:xfrm rot="5400000">
            <a:off x="1971642" y="7149528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1600225" y="8164785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77" name="갈매기형 수장 176"/>
          <p:cNvSpPr/>
          <p:nvPr/>
        </p:nvSpPr>
        <p:spPr>
          <a:xfrm>
            <a:off x="1324371" y="841471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grpSp>
        <p:nvGrpSpPr>
          <p:cNvPr id="13" name="그룹 80"/>
          <p:cNvGrpSpPr/>
          <p:nvPr/>
        </p:nvGrpSpPr>
        <p:grpSpPr>
          <a:xfrm>
            <a:off x="1468387" y="7804745"/>
            <a:ext cx="1164439" cy="410979"/>
            <a:chOff x="1264429" y="6105706"/>
            <a:chExt cx="1164439" cy="410979"/>
          </a:xfrm>
        </p:grpSpPr>
        <p:sp>
          <p:nvSpPr>
            <p:cNvPr id="179" name="순서도: 판단 178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181" name="갈매기형 수장 180"/>
          <p:cNvSpPr/>
          <p:nvPr/>
        </p:nvSpPr>
        <p:spPr>
          <a:xfrm>
            <a:off x="460275" y="7804745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82" name="꺾인 연결선 113"/>
          <p:cNvCxnSpPr>
            <a:stCxn id="181" idx="2"/>
            <a:endCxn id="177" idx="1"/>
          </p:cNvCxnSpPr>
          <p:nvPr/>
        </p:nvCxnSpPr>
        <p:spPr>
          <a:xfrm rot="16200000" flipH="1">
            <a:off x="803351" y="8073697"/>
            <a:ext cx="429972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13"/>
          <p:cNvCxnSpPr>
            <a:stCxn id="179" idx="1"/>
            <a:endCxn id="181" idx="0"/>
          </p:cNvCxnSpPr>
          <p:nvPr/>
        </p:nvCxnSpPr>
        <p:spPr>
          <a:xfrm rot="10800000">
            <a:off x="712303" y="7804745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108347" y="8020769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85" name="직선 화살표 연결선 184"/>
          <p:cNvCxnSpPr/>
          <p:nvPr/>
        </p:nvCxnSpPr>
        <p:spPr>
          <a:xfrm rot="5400000">
            <a:off x="1955245" y="830694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80"/>
          <p:cNvGrpSpPr/>
          <p:nvPr/>
        </p:nvGrpSpPr>
        <p:grpSpPr>
          <a:xfrm>
            <a:off x="1484784" y="8951540"/>
            <a:ext cx="1164439" cy="410979"/>
            <a:chOff x="1264429" y="6105706"/>
            <a:chExt cx="1164439" cy="410979"/>
          </a:xfrm>
        </p:grpSpPr>
        <p:sp>
          <p:nvSpPr>
            <p:cNvPr id="191" name="순서도: 판단 190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450639" y="6207080"/>
              <a:ext cx="8098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취소 및 수정</a:t>
              </a:r>
              <a:endParaRPr lang="ko-KR" altLang="en-US" sz="900" dirty="0">
                <a:ea typeface="나눔고딕"/>
              </a:endParaRPr>
            </a:p>
          </p:txBody>
        </p:sp>
      </p:grpSp>
      <p:cxnSp>
        <p:nvCxnSpPr>
          <p:cNvPr id="193" name="직선 화살표 연결선 192"/>
          <p:cNvCxnSpPr/>
          <p:nvPr/>
        </p:nvCxnSpPr>
        <p:spPr>
          <a:xfrm rot="5400000">
            <a:off x="1971642" y="885863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91" idx="2"/>
            <a:endCxn id="12" idx="1"/>
          </p:cNvCxnSpPr>
          <p:nvPr/>
        </p:nvCxnSpPr>
        <p:spPr>
          <a:xfrm rot="16200000" flipH="1">
            <a:off x="2450494" y="8979029"/>
            <a:ext cx="162969" cy="92994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꺾인 연결선 194"/>
          <p:cNvCxnSpPr>
            <a:stCxn id="191" idx="3"/>
            <a:endCxn id="60" idx="1"/>
          </p:cNvCxnSpPr>
          <p:nvPr/>
        </p:nvCxnSpPr>
        <p:spPr>
          <a:xfrm flipV="1">
            <a:off x="2649223" y="3980912"/>
            <a:ext cx="419737" cy="5176118"/>
          </a:xfrm>
          <a:prstGeom prst="bentConnector3">
            <a:avLst>
              <a:gd name="adj1" fmla="val 59077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2420888" y="9527604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2492896" y="8913440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35" name="갈매기형 수장 134"/>
          <p:cNvSpPr/>
          <p:nvPr/>
        </p:nvSpPr>
        <p:spPr>
          <a:xfrm>
            <a:off x="3068960" y="498633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정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취소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  <p:sp>
        <p:nvSpPr>
          <p:cNvPr id="7" name="오각형 6"/>
          <p:cNvSpPr/>
          <p:nvPr/>
        </p:nvSpPr>
        <p:spPr>
          <a:xfrm>
            <a:off x="3062930" y="1352640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즐겨찾기의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CGV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들어옮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" name="갈매기형 수장 7"/>
          <p:cNvSpPr/>
          <p:nvPr/>
        </p:nvSpPr>
        <p:spPr>
          <a:xfrm>
            <a:off x="1334578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9" name="갈매기형 수장 8"/>
          <p:cNvSpPr/>
          <p:nvPr/>
        </p:nvSpPr>
        <p:spPr>
          <a:xfrm>
            <a:off x="7821488" y="4880992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ea typeface="나눔고딕"/>
              </a:rPr>
              <a:t>CGV</a:t>
            </a:r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로</a:t>
            </a:r>
            <a:endParaRPr lang="en-US" altLang="ko-KR" sz="900" dirty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이동</a:t>
            </a:r>
          </a:p>
        </p:txBody>
      </p:sp>
      <p:sp>
        <p:nvSpPr>
          <p:cNvPr id="10" name="갈매기형 수장 9"/>
          <p:cNvSpPr/>
          <p:nvPr/>
        </p:nvSpPr>
        <p:spPr>
          <a:xfrm>
            <a:off x="1334578" y="49958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, 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12" name="갈매기형 수장 11"/>
          <p:cNvSpPr/>
          <p:nvPr/>
        </p:nvSpPr>
        <p:spPr>
          <a:xfrm>
            <a:off x="2996952" y="934548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rot="5400000">
            <a:off x="3692930" y="180184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endCxn id="68" idx="0"/>
          </p:cNvCxnSpPr>
          <p:nvPr/>
        </p:nvCxnSpPr>
        <p:spPr>
          <a:xfrm rot="5400000">
            <a:off x="3603564" y="3043974"/>
            <a:ext cx="360080" cy="166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rot="5400000">
            <a:off x="1964578" y="543827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80"/>
          <p:cNvGrpSpPr/>
          <p:nvPr/>
        </p:nvGrpSpPr>
        <p:grpSpPr>
          <a:xfrm>
            <a:off x="1472244" y="4378525"/>
            <a:ext cx="1164439" cy="410979"/>
            <a:chOff x="1264429" y="6105706"/>
            <a:chExt cx="1164439" cy="410979"/>
          </a:xfrm>
        </p:grpSpPr>
        <p:sp>
          <p:nvSpPr>
            <p:cNvPr id="18" name="순서도: 판단 17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470674" y="6207080"/>
              <a:ext cx="76976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영화관 결정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628800" y="5889104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2184" y="4592960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24" name="직선 화살표 연결선 23"/>
          <p:cNvCxnSpPr>
            <a:endCxn id="10" idx="0"/>
          </p:cNvCxnSpPr>
          <p:nvPr/>
        </p:nvCxnSpPr>
        <p:spPr>
          <a:xfrm rot="16200000" flipH="1">
            <a:off x="1951341" y="4892627"/>
            <a:ext cx="206360" cy="1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8323373" y="6656682"/>
            <a:ext cx="1436711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분류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기준별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조건 항목 복수 지정 가능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8045572" y="6870996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42" idx="2"/>
            <a:endCxn id="69" idx="0"/>
          </p:cNvCxnSpPr>
          <p:nvPr/>
        </p:nvCxnSpPr>
        <p:spPr>
          <a:xfrm rot="16200000" flipH="1">
            <a:off x="4467006" y="2180732"/>
            <a:ext cx="360040" cy="172819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rot="5400000">
            <a:off x="8025790" y="53988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34"/>
          <p:cNvSpPr/>
          <p:nvPr/>
        </p:nvSpPr>
        <p:spPr>
          <a:xfrm>
            <a:off x="8323373" y="8101344"/>
            <a:ext cx="1508149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회원가입 후 스크랩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스크랩 항목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폴더링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Excel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파일로 리스트 다운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8037622" y="8307707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 rot="5400000">
            <a:off x="3692930" y="23419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갈매기형 수장 39"/>
          <p:cNvSpPr/>
          <p:nvPr/>
        </p:nvSpPr>
        <p:spPr>
          <a:xfrm>
            <a:off x="3062930" y="191389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2" name="갈매기형 수장 41"/>
          <p:cNvSpPr/>
          <p:nvPr/>
        </p:nvSpPr>
        <p:spPr>
          <a:xfrm>
            <a:off x="3062930" y="250480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 우선순위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6" name="갈매기형 수장 45"/>
          <p:cNvSpPr/>
          <p:nvPr/>
        </p:nvSpPr>
        <p:spPr>
          <a:xfrm>
            <a:off x="1340768" y="610512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좌석 자동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47" name="직선 화살표 연결선 46"/>
          <p:cNvCxnSpPr/>
          <p:nvPr/>
        </p:nvCxnSpPr>
        <p:spPr>
          <a:xfrm rot="5400000">
            <a:off x="8025790" y="593202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갈매기형 수장 47"/>
          <p:cNvSpPr/>
          <p:nvPr/>
        </p:nvSpPr>
        <p:spPr>
          <a:xfrm>
            <a:off x="7821488" y="6031565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 rot="5400000">
            <a:off x="1971642" y="770650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갈매기형 수장 50"/>
          <p:cNvSpPr/>
          <p:nvPr/>
        </p:nvSpPr>
        <p:spPr>
          <a:xfrm>
            <a:off x="1334578" y="3800872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자주가는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 영화관 자동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 rot="5400000">
            <a:off x="3699834" y="542606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rot="5400000">
            <a:off x="8025790" y="763293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갈매기형 수장 58"/>
          <p:cNvSpPr/>
          <p:nvPr/>
        </p:nvSpPr>
        <p:spPr>
          <a:xfrm>
            <a:off x="7395790" y="772373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0" name="오각형 59"/>
          <p:cNvSpPr/>
          <p:nvPr/>
        </p:nvSpPr>
        <p:spPr>
          <a:xfrm>
            <a:off x="3068960" y="3800912"/>
            <a:ext cx="1440000" cy="360000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나의 영화로 이동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1" name="갈매기형 수장 60"/>
          <p:cNvSpPr/>
          <p:nvPr/>
        </p:nvSpPr>
        <p:spPr>
          <a:xfrm>
            <a:off x="5943090" y="862540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예매취소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2" name="갈매기형 수장 61"/>
          <p:cNvSpPr/>
          <p:nvPr/>
        </p:nvSpPr>
        <p:spPr>
          <a:xfrm>
            <a:off x="9399474" y="2864768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ea typeface="나눔고딕"/>
              </a:rPr>
              <a:t>CGV</a:t>
            </a:r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로</a:t>
            </a:r>
            <a:endParaRPr lang="en-US" altLang="ko-KR" sz="900" dirty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>
                <a:solidFill>
                  <a:schemeClr val="tx1"/>
                </a:solidFill>
                <a:ea typeface="나눔고딕"/>
              </a:rPr>
              <a:t>이동</a:t>
            </a:r>
          </a:p>
        </p:txBody>
      </p:sp>
      <p:sp>
        <p:nvSpPr>
          <p:cNvPr id="63" name="갈매기형 수장 62"/>
          <p:cNvSpPr/>
          <p:nvPr/>
        </p:nvSpPr>
        <p:spPr>
          <a:xfrm>
            <a:off x="5943090" y="9163582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완</a:t>
            </a:r>
            <a:r>
              <a:rPr lang="ko-KR" altLang="en-US" sz="800" dirty="0">
                <a:solidFill>
                  <a:schemeClr val="tx1"/>
                </a:solidFill>
                <a:ea typeface="나눔고딕"/>
              </a:rPr>
              <a:t>료</a:t>
            </a:r>
          </a:p>
        </p:txBody>
      </p:sp>
      <p:sp>
        <p:nvSpPr>
          <p:cNvPr id="64" name="갈매기형 수장 63"/>
          <p:cNvSpPr/>
          <p:nvPr/>
        </p:nvSpPr>
        <p:spPr>
          <a:xfrm>
            <a:off x="8973776" y="4623659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관람인수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65" name="직선 화살표 연결선 64"/>
          <p:cNvCxnSpPr/>
          <p:nvPr/>
        </p:nvCxnSpPr>
        <p:spPr>
          <a:xfrm rot="5400000">
            <a:off x="3699834" y="4255451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 rot="5400000">
            <a:off x="6573090" y="9074653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 rot="5400000">
            <a:off x="9603776" y="507823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rot="5400000">
            <a:off x="9603776" y="338260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/>
          <p:nvPr/>
        </p:nvCxnSpPr>
        <p:spPr>
          <a:xfrm rot="5400000">
            <a:off x="6573090" y="7922486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갈매기형 수장 77"/>
          <p:cNvSpPr/>
          <p:nvPr/>
        </p:nvSpPr>
        <p:spPr>
          <a:xfrm>
            <a:off x="3068960" y="437693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정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취소 할 영화 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 rot="5400000">
            <a:off x="6573090" y="84985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갈매기형 수장 79"/>
          <p:cNvSpPr/>
          <p:nvPr/>
        </p:nvSpPr>
        <p:spPr>
          <a:xfrm>
            <a:off x="5943090" y="804934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예매내역 확인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81" name="갈매기형 수장 80"/>
          <p:cNvSpPr/>
          <p:nvPr/>
        </p:nvSpPr>
        <p:spPr>
          <a:xfrm>
            <a:off x="8973776" y="3471531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상영시간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상영관 </a:t>
            </a:r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2" name="직선 화살표 연결선 81"/>
          <p:cNvCxnSpPr/>
          <p:nvPr/>
        </p:nvCxnSpPr>
        <p:spPr>
          <a:xfrm rot="5400000">
            <a:off x="9603776" y="3917357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갈매기형 수장 82"/>
          <p:cNvSpPr/>
          <p:nvPr/>
        </p:nvSpPr>
        <p:spPr>
          <a:xfrm>
            <a:off x="9399474" y="4016896"/>
            <a:ext cx="588604" cy="428628"/>
          </a:xfrm>
          <a:prstGeom prst="chevron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로그인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 rot="5400000">
            <a:off x="9603776" y="45381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/>
          <p:nvPr/>
        </p:nvCxnSpPr>
        <p:spPr>
          <a:xfrm rot="5400000">
            <a:off x="9603776" y="273795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갈매기형 수장 86"/>
          <p:cNvSpPr/>
          <p:nvPr/>
        </p:nvSpPr>
        <p:spPr>
          <a:xfrm>
            <a:off x="8973776" y="516902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좌석석택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88" name="직선 화살표 연결선 87"/>
          <p:cNvCxnSpPr/>
          <p:nvPr/>
        </p:nvCxnSpPr>
        <p:spPr>
          <a:xfrm rot="5400000">
            <a:off x="9603776" y="561827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갈매기형 수장 88"/>
          <p:cNvSpPr/>
          <p:nvPr/>
        </p:nvSpPr>
        <p:spPr>
          <a:xfrm>
            <a:off x="8973776" y="5709064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96" name="직선 화살표 연결선 95"/>
          <p:cNvCxnSpPr/>
          <p:nvPr/>
        </p:nvCxnSpPr>
        <p:spPr>
          <a:xfrm rot="5400000">
            <a:off x="8025790" y="817305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갈매기형 수장 96"/>
          <p:cNvSpPr/>
          <p:nvPr/>
        </p:nvSpPr>
        <p:spPr>
          <a:xfrm>
            <a:off x="7395790" y="8263853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예매완료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8" name="갈매기형 수장 67"/>
          <p:cNvSpPr/>
          <p:nvPr/>
        </p:nvSpPr>
        <p:spPr>
          <a:xfrm>
            <a:off x="3062770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날짜와 시간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9" name="갈매기형 수장 68"/>
          <p:cNvSpPr/>
          <p:nvPr/>
        </p:nvSpPr>
        <p:spPr>
          <a:xfrm>
            <a:off x="4791122" y="3224848"/>
            <a:ext cx="1440000" cy="360000"/>
          </a:xfrm>
          <a:prstGeom prst="chevron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영화관 먼저 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70" name="꺾인 연결선 69"/>
          <p:cNvCxnSpPr>
            <a:stCxn id="42" idx="2"/>
            <a:endCxn id="8" idx="0"/>
          </p:cNvCxnSpPr>
          <p:nvPr/>
        </p:nvCxnSpPr>
        <p:spPr>
          <a:xfrm rot="5400000">
            <a:off x="2738734" y="2180652"/>
            <a:ext cx="360040" cy="1728352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>
            <a:stCxn id="8" idx="2"/>
            <a:endCxn id="51" idx="0"/>
          </p:cNvCxnSpPr>
          <p:nvPr/>
        </p:nvCxnSpPr>
        <p:spPr>
          <a:xfrm rot="5400000">
            <a:off x="1946566" y="3692860"/>
            <a:ext cx="216024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 rot="5400000">
            <a:off x="3699834" y="4826182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51" idx="2"/>
          </p:cNvCxnSpPr>
          <p:nvPr/>
        </p:nvCxnSpPr>
        <p:spPr>
          <a:xfrm rot="16200000" flipH="1">
            <a:off x="1954548" y="4260901"/>
            <a:ext cx="200141" cy="8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갈매기형 수장 112"/>
          <p:cNvSpPr/>
          <p:nvPr/>
        </p:nvSpPr>
        <p:spPr>
          <a:xfrm>
            <a:off x="476672" y="4376936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14" name="꺾인 연결선 113"/>
          <p:cNvCxnSpPr>
            <a:stCxn id="18" idx="1"/>
            <a:endCxn id="113" idx="0"/>
          </p:cNvCxnSpPr>
          <p:nvPr/>
        </p:nvCxnSpPr>
        <p:spPr>
          <a:xfrm rot="10800000">
            <a:off x="728700" y="4376937"/>
            <a:ext cx="743544" cy="207079"/>
          </a:xfrm>
          <a:prstGeom prst="bentConnector4">
            <a:avLst>
              <a:gd name="adj1" fmla="val 33052"/>
              <a:gd name="adj2" fmla="val 210393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3"/>
          <p:cNvCxnSpPr>
            <a:stCxn id="113" idx="2"/>
            <a:endCxn id="10" idx="1"/>
          </p:cNvCxnSpPr>
          <p:nvPr/>
        </p:nvCxnSpPr>
        <p:spPr>
          <a:xfrm rot="16200000" flipH="1">
            <a:off x="812175" y="4653461"/>
            <a:ext cx="438928" cy="60587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80"/>
          <p:cNvGrpSpPr/>
          <p:nvPr/>
        </p:nvGrpSpPr>
        <p:grpSpPr>
          <a:xfrm>
            <a:off x="1484784" y="5529064"/>
            <a:ext cx="1164439" cy="410979"/>
            <a:chOff x="1264429" y="6105706"/>
            <a:chExt cx="1164439" cy="410979"/>
          </a:xfrm>
        </p:grpSpPr>
        <p:sp>
          <p:nvSpPr>
            <p:cNvPr id="144" name="순서도: 판단 143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cxnSp>
        <p:nvCxnSpPr>
          <p:cNvPr id="146" name="직선 화살표 연결선 145"/>
          <p:cNvCxnSpPr/>
          <p:nvPr/>
        </p:nvCxnSpPr>
        <p:spPr>
          <a:xfrm rot="5400000">
            <a:off x="1971642" y="6031268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갈매기형 수장 146"/>
          <p:cNvSpPr/>
          <p:nvPr/>
        </p:nvSpPr>
        <p:spPr>
          <a:xfrm>
            <a:off x="476672" y="5529064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48" name="꺾인 연결선 113"/>
          <p:cNvCxnSpPr>
            <a:stCxn id="144" idx="1"/>
            <a:endCxn id="147" idx="0"/>
          </p:cNvCxnSpPr>
          <p:nvPr/>
        </p:nvCxnSpPr>
        <p:spPr>
          <a:xfrm rot="10800000">
            <a:off x="728700" y="5529064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13"/>
          <p:cNvCxnSpPr>
            <a:stCxn id="147" idx="2"/>
            <a:endCxn id="46" idx="1"/>
          </p:cNvCxnSpPr>
          <p:nvPr/>
        </p:nvCxnSpPr>
        <p:spPr>
          <a:xfrm rot="16200000" flipH="1">
            <a:off x="836702" y="5781062"/>
            <a:ext cx="396064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628800" y="4736976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124744" y="574508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1616622" y="7007364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57" name="갈매기형 수장 156"/>
          <p:cNvSpPr/>
          <p:nvPr/>
        </p:nvSpPr>
        <p:spPr>
          <a:xfrm>
            <a:off x="1340768" y="7257296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결제수단 자동선택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grpSp>
        <p:nvGrpSpPr>
          <p:cNvPr id="11" name="그룹 80"/>
          <p:cNvGrpSpPr/>
          <p:nvPr/>
        </p:nvGrpSpPr>
        <p:grpSpPr>
          <a:xfrm>
            <a:off x="1484784" y="6647324"/>
            <a:ext cx="1164439" cy="410979"/>
            <a:chOff x="1264429" y="6105706"/>
            <a:chExt cx="1164439" cy="410979"/>
          </a:xfrm>
        </p:grpSpPr>
        <p:sp>
          <p:nvSpPr>
            <p:cNvPr id="159" name="순서도: 판단 158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161" name="갈매기형 수장 160"/>
          <p:cNvSpPr/>
          <p:nvPr/>
        </p:nvSpPr>
        <p:spPr>
          <a:xfrm>
            <a:off x="476672" y="6647324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62" name="꺾인 연결선 113"/>
          <p:cNvCxnSpPr>
            <a:endCxn id="161" idx="0"/>
          </p:cNvCxnSpPr>
          <p:nvPr/>
        </p:nvCxnSpPr>
        <p:spPr>
          <a:xfrm rot="10800000">
            <a:off x="728700" y="6647324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13"/>
          <p:cNvCxnSpPr>
            <a:stCxn id="161" idx="2"/>
            <a:endCxn id="157" idx="1"/>
          </p:cNvCxnSpPr>
          <p:nvPr/>
        </p:nvCxnSpPr>
        <p:spPr>
          <a:xfrm rot="16200000" flipH="1">
            <a:off x="819748" y="6916276"/>
            <a:ext cx="429972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1124744" y="6863348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65" name="직선 화살표 연결선 164"/>
          <p:cNvCxnSpPr/>
          <p:nvPr/>
        </p:nvCxnSpPr>
        <p:spPr>
          <a:xfrm rot="5400000">
            <a:off x="1971642" y="6554374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화살표 연결선 166"/>
          <p:cNvCxnSpPr/>
          <p:nvPr/>
        </p:nvCxnSpPr>
        <p:spPr>
          <a:xfrm rot="5400000">
            <a:off x="1971642" y="7149528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1600225" y="8164785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77" name="갈매기형 수장 176"/>
          <p:cNvSpPr/>
          <p:nvPr/>
        </p:nvSpPr>
        <p:spPr>
          <a:xfrm>
            <a:off x="1324371" y="841471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결제</a:t>
            </a:r>
            <a:endParaRPr lang="ko-KR" altLang="en-US" sz="800" dirty="0">
              <a:solidFill>
                <a:schemeClr val="tx1"/>
              </a:solidFill>
              <a:ea typeface="나눔고딕"/>
            </a:endParaRPr>
          </a:p>
        </p:txBody>
      </p:sp>
      <p:grpSp>
        <p:nvGrpSpPr>
          <p:cNvPr id="13" name="그룹 80"/>
          <p:cNvGrpSpPr/>
          <p:nvPr/>
        </p:nvGrpSpPr>
        <p:grpSpPr>
          <a:xfrm>
            <a:off x="1468387" y="7804745"/>
            <a:ext cx="1164439" cy="410979"/>
            <a:chOff x="1264429" y="6105706"/>
            <a:chExt cx="1164439" cy="410979"/>
          </a:xfrm>
        </p:grpSpPr>
        <p:sp>
          <p:nvSpPr>
            <p:cNvPr id="179" name="순서도: 판단 178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1654219" y="6207080"/>
              <a:ext cx="4026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만족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181" name="갈매기형 수장 180"/>
          <p:cNvSpPr/>
          <p:nvPr/>
        </p:nvSpPr>
        <p:spPr>
          <a:xfrm>
            <a:off x="460275" y="7804745"/>
            <a:ext cx="504056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 smtClean="0">
                <a:solidFill>
                  <a:schemeClr val="tx1"/>
                </a:solidFill>
                <a:ea typeface="나눔고딕"/>
              </a:rPr>
              <a:t>재선택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82" name="꺾인 연결선 113"/>
          <p:cNvCxnSpPr>
            <a:stCxn id="181" idx="2"/>
            <a:endCxn id="177" idx="1"/>
          </p:cNvCxnSpPr>
          <p:nvPr/>
        </p:nvCxnSpPr>
        <p:spPr>
          <a:xfrm rot="16200000" flipH="1">
            <a:off x="803351" y="8073697"/>
            <a:ext cx="429972" cy="61206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13"/>
          <p:cNvCxnSpPr>
            <a:stCxn id="179" idx="1"/>
            <a:endCxn id="181" idx="0"/>
          </p:cNvCxnSpPr>
          <p:nvPr/>
        </p:nvCxnSpPr>
        <p:spPr>
          <a:xfrm rot="10800000">
            <a:off x="712303" y="7804745"/>
            <a:ext cx="756084" cy="205490"/>
          </a:xfrm>
          <a:prstGeom prst="bentConnector4">
            <a:avLst>
              <a:gd name="adj1" fmla="val 33333"/>
              <a:gd name="adj2" fmla="val 211246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108347" y="8020769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85" name="직선 화살표 연결선 184"/>
          <p:cNvCxnSpPr/>
          <p:nvPr/>
        </p:nvCxnSpPr>
        <p:spPr>
          <a:xfrm rot="5400000">
            <a:off x="1955245" y="8306949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80"/>
          <p:cNvGrpSpPr/>
          <p:nvPr/>
        </p:nvGrpSpPr>
        <p:grpSpPr>
          <a:xfrm>
            <a:off x="1484784" y="8951540"/>
            <a:ext cx="1164439" cy="410979"/>
            <a:chOff x="1264429" y="6105706"/>
            <a:chExt cx="1164439" cy="410979"/>
          </a:xfrm>
        </p:grpSpPr>
        <p:sp>
          <p:nvSpPr>
            <p:cNvPr id="191" name="순서도: 판단 190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1450639" y="6207080"/>
              <a:ext cx="8098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취소 및 수정</a:t>
              </a:r>
              <a:endParaRPr lang="ko-KR" altLang="en-US" sz="900" dirty="0">
                <a:ea typeface="나눔고딕"/>
              </a:endParaRPr>
            </a:p>
          </p:txBody>
        </p:sp>
      </p:grpSp>
      <p:cxnSp>
        <p:nvCxnSpPr>
          <p:cNvPr id="193" name="직선 화살표 연결선 192"/>
          <p:cNvCxnSpPr/>
          <p:nvPr/>
        </p:nvCxnSpPr>
        <p:spPr>
          <a:xfrm rot="5400000">
            <a:off x="1971642" y="8858630"/>
            <a:ext cx="180000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91" idx="2"/>
            <a:endCxn id="12" idx="1"/>
          </p:cNvCxnSpPr>
          <p:nvPr/>
        </p:nvCxnSpPr>
        <p:spPr>
          <a:xfrm rot="16200000" flipH="1">
            <a:off x="2450494" y="8979029"/>
            <a:ext cx="162969" cy="929948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꺾인 연결선 194"/>
          <p:cNvCxnSpPr>
            <a:stCxn id="191" idx="3"/>
            <a:endCxn id="60" idx="1"/>
          </p:cNvCxnSpPr>
          <p:nvPr/>
        </p:nvCxnSpPr>
        <p:spPr>
          <a:xfrm flipV="1">
            <a:off x="2649223" y="3980912"/>
            <a:ext cx="419737" cy="5176118"/>
          </a:xfrm>
          <a:prstGeom prst="bentConnector3">
            <a:avLst>
              <a:gd name="adj1" fmla="val 59077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2420888" y="9527604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2492896" y="8913440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135" name="갈매기형 수장 134"/>
          <p:cNvSpPr/>
          <p:nvPr/>
        </p:nvSpPr>
        <p:spPr>
          <a:xfrm>
            <a:off x="3068960" y="4986337"/>
            <a:ext cx="1440000" cy="360000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수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정</a:t>
            </a:r>
            <a:r>
              <a:rPr lang="en-US" altLang="ko-KR" sz="800" dirty="0" smtClean="0">
                <a:solidFill>
                  <a:schemeClr val="tx1"/>
                </a:solidFill>
                <a:ea typeface="나눔고딕"/>
              </a:rPr>
              <a:t>/</a:t>
            </a:r>
            <a:r>
              <a:rPr lang="ko-KR" altLang="en-US" sz="800" dirty="0" smtClean="0">
                <a:solidFill>
                  <a:schemeClr val="tx1"/>
                </a:solidFill>
                <a:ea typeface="나눔고딕"/>
              </a:rPr>
              <a:t>취소</a:t>
            </a:r>
            <a:endParaRPr lang="en-US" altLang="ko-KR" sz="800" dirty="0" smtClean="0">
              <a:solidFill>
                <a:schemeClr val="tx1"/>
              </a:solidFill>
              <a:ea typeface="나눔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0" y="0"/>
            <a:ext cx="45719" cy="9286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71528" y="439135"/>
            <a:ext cx="3286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needs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500042" y="3641008"/>
          <a:ext cx="5929353" cy="3519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84"/>
                <a:gridCol w="2786082"/>
                <a:gridCol w="1857387"/>
              </a:tblGrid>
              <a:tr h="3310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Sub</a:t>
                      </a:r>
                      <a:r>
                        <a:rPr lang="en-US" altLang="ko-KR" sz="10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Needs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chemeClr val="bg1"/>
                          </a:solidFill>
                        </a:rPr>
                        <a:t>주요 </a:t>
                      </a:r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24459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중소기업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l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제품 기획자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현재 라이프 스타일과 디자인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트랜드를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알아보고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그 디자인을 적용한 제품들이 얼마나 등록되어 있는가를 알아보기 원함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상품 기획을 위한 현재 판매되고 있는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등록되어 있는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 분포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파악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트랜드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보고서와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비쥬얼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서치간의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연동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 디자인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분포도 보기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438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 전공 관련 학생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l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공통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디자인권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및 디자인 전반적인 정보 획득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 관련 사이트의 허브로 이용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디자인권</a:t>
                      </a:r>
                      <a:r>
                        <a:rPr lang="ko-KR" altLang="en-US" sz="900" baseline="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에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대한 자세한 설명 및 디자인 전반에 대한 정보 검색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013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중소기업 경영자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등록되어 있는 디자인을 검색하고 상업적으로 이용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이용 가능 디자인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분류</a:t>
                      </a:r>
                      <a:endParaRPr lang="en-US" altLang="ko-KR" sz="900" baseline="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디자인권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소유자와 연락 가능 수단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00042" y="1595414"/>
          <a:ext cx="5929353" cy="1597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884"/>
                <a:gridCol w="2786082"/>
                <a:gridCol w="1857387"/>
              </a:tblGrid>
              <a:tr h="3571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Main</a:t>
                      </a:r>
                      <a:r>
                        <a:rPr lang="en-US" altLang="ko-KR" sz="1000" b="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Needs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chemeClr val="bg1"/>
                          </a:solidFill>
                        </a:rPr>
                        <a:t>주요 </a:t>
                      </a:r>
                      <a:r>
                        <a:rPr lang="en-US" altLang="ko-KR" sz="1000" b="0" dirty="0" smtClean="0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124055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디자이너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l"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l" latinLnBrk="1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중소기업 및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l"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 전문회사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in house </a:t>
                      </a:r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디자이너 </a:t>
                      </a:r>
                      <a:r>
                        <a:rPr lang="en-US" altLang="ko-KR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/ </a:t>
                      </a:r>
                    </a:p>
                    <a:p>
                      <a:pPr algn="l" latinLnBrk="1"/>
                      <a:r>
                        <a:rPr lang="ko-KR" altLang="en-US" sz="900" baseline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프리랜서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제품을 디자인 하기 전 자신이 디자인하려고 하는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제품군에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어떤 디자인들이 있는지 검색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자신이 디자인한 제품을 출원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등록되어 있는 디자인과의 중복을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피하기위한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사전 조사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  <a:p>
                      <a:pPr latinLnBrk="1"/>
                      <a:r>
                        <a:rPr lang="en-US" altLang="ko-KR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Designmap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사이트에서 </a:t>
                      </a:r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디자인권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 출원</a:t>
                      </a:r>
                      <a:endParaRPr lang="en-US" altLang="ko-KR" sz="900" dirty="0" smtClean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/>
        </p:nvSpPr>
        <p:spPr>
          <a:xfrm>
            <a:off x="0" y="0"/>
            <a:ext cx="45719" cy="9286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71528" y="439135"/>
            <a:ext cx="32861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needs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00042" y="1452538"/>
          <a:ext cx="5929354" cy="635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322"/>
                <a:gridCol w="4572032"/>
              </a:tblGrid>
              <a:tr h="35719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smtClean="0">
                          <a:solidFill>
                            <a:schemeClr val="bg1"/>
                          </a:solidFill>
                          <a:ea typeface="나눔고딕"/>
                        </a:rPr>
                        <a:t>개선</a:t>
                      </a:r>
                      <a:r>
                        <a:rPr lang="en-US" altLang="ko-KR" sz="1000" b="0" baseline="0" dirty="0" smtClean="0">
                          <a:solidFill>
                            <a:schemeClr val="bg1"/>
                          </a:solidFill>
                          <a:ea typeface="나눔고딕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bg1"/>
                          </a:solidFill>
                          <a:ea typeface="나눔고딕"/>
                        </a:rPr>
                        <a:t>및 </a:t>
                      </a:r>
                      <a:r>
                        <a:rPr lang="ko-KR" altLang="en-US" sz="1000" b="0" dirty="0" smtClean="0">
                          <a:solidFill>
                            <a:schemeClr val="bg1"/>
                          </a:solidFill>
                          <a:ea typeface="나눔고딕"/>
                        </a:rPr>
                        <a:t>추가 기능</a:t>
                      </a:r>
                      <a:endParaRPr lang="ko-KR" altLang="en-US" sz="1000" b="0" dirty="0">
                        <a:solidFill>
                          <a:schemeClr val="bg1"/>
                        </a:solidFill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bg1"/>
                        </a:solidFill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003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비쥬얼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써치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등록 디자인의 분류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체계 개선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기준점 지정 방식의 유사 등록 디자인 자동 검색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등록 디자인의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3D </a:t>
                      </a:r>
                      <a:r>
                        <a:rPr lang="en-US" altLang="ko-KR" sz="1000" b="0" baseline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vr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보기 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(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디자인 특허 비전문가의 이용성 증가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)</a:t>
                      </a: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트랜드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보고서와 연동되는 등록 디자인 검색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 (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보고서에서 언급된 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트랜드의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등록 제품 리스트와 바로 가기 제공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)</a:t>
                      </a: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제품군별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,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제품 형태별 등록 디자인의 수량과 분포도 제공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/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/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003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디자인권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</a:t>
                      </a:r>
                      <a:r>
                        <a:rPr lang="en-US" altLang="ko-KR" sz="1000" b="0" baseline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DesignMap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싸이트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내에서 </a:t>
                      </a:r>
                      <a:r>
                        <a:rPr lang="ko-KR" altLang="en-US" sz="1000" b="0" baseline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디자인권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등록</a:t>
                      </a:r>
                      <a:endParaRPr lang="en-US" altLang="ko-KR" sz="1000" b="0" baseline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디자인권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등록자와 연락 할 수 있는 수단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 (Apple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App Store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효과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.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디자이너들의 등록 증가 예상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)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latinLnBrk="1">
                        <a:buFont typeface="Arial" pitchFamily="34" charset="0"/>
                        <a:buChar char="•"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비전문가가 쉽게 이해 할 수 있는 수준의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디자인권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설명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ea typeface="나눔고딕"/>
                        </a:rPr>
                        <a:t> 디자인 전반의 흥미 </a:t>
                      </a:r>
                      <a:r>
                        <a:rPr lang="ko-KR" altLang="en-US" sz="1000" b="0" dirty="0" err="1" smtClean="0">
                          <a:solidFill>
                            <a:schemeClr val="tx1"/>
                          </a:solidFill>
                          <a:ea typeface="나눔고딕"/>
                        </a:rPr>
                        <a:t>컨텐츠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ea typeface="나눔고딕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>
            <a:spLocks noChangeArrowheads="1"/>
          </p:cNvSpPr>
          <p:nvPr/>
        </p:nvSpPr>
        <p:spPr bwMode="auto">
          <a:xfrm>
            <a:off x="571500" y="428625"/>
            <a:ext cx="521495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200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Target User 1. Designer</a:t>
            </a:r>
            <a:endParaRPr lang="en-US" altLang="ko-KR" sz="2000" dirty="0" smtClean="0">
              <a:solidFill>
                <a:schemeClr val="tx2"/>
              </a:solidFill>
              <a:latin typeface="Book Antiqua" pitchFamily="18" charset="0"/>
              <a:ea typeface="맑은 고딕" pitchFamily="50" charset="-127"/>
            </a:endParaRPr>
          </a:p>
        </p:txBody>
      </p:sp>
      <p:pic>
        <p:nvPicPr>
          <p:cNvPr id="3" name="그림 7" descr="wiseuxlog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00702" y="380968"/>
            <a:ext cx="1214437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/>
        </p:nvSpPr>
        <p:spPr>
          <a:xfrm>
            <a:off x="0" y="0"/>
            <a:ext cx="45719" cy="92867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214290" y="1150600"/>
          <a:ext cx="6429420" cy="159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380"/>
                <a:gridCol w="5715040"/>
              </a:tblGrid>
              <a:tr h="223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Task</a:t>
                      </a:r>
                      <a:endParaRPr lang="ko-KR" altLang="en-US" sz="900" b="0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baseline="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1. </a:t>
                      </a:r>
                      <a:r>
                        <a:rPr lang="ko-KR" altLang="en-US" sz="900" b="0" baseline="0" dirty="0" smtClean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현재 등록되어 있는 디자인과 중복을 피하기 위한  사전조사</a:t>
                      </a:r>
                      <a:endParaRPr lang="ko-KR" altLang="en-US" sz="900" b="0" dirty="0" smtClean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13641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rPr>
                        <a:t>Scenario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가습기를 만드는 중소기업에 근무하는 디자이너 정씨는 새로 출시할 제품의 디자인을 하기 전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,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현재 등록되어 있는 디자인을 알아보기 위해 </a:t>
                      </a:r>
                      <a:r>
                        <a:rPr lang="en-US" altLang="ko-KR" sz="9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naver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에서 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디자인 특허 검색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”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을 키워드로 검색을 했다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  <a:p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검색 결과로 나온 </a:t>
                      </a:r>
                      <a:r>
                        <a:rPr lang="en-US" altLang="ko-KR" sz="9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Designmap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사이트에 들어가 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등록 디자인 보기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”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메뉴를 클릭한다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  <a:p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등록 디자인 보기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”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안에서 가전제품 카테고리 안의 가습기로 들어간다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  <a:p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2000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여 건의 등록 디자인이 나오자 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형태별 검색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”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과 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“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상세 검색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”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중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“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형태 검색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”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탭을 열고 </a:t>
                      </a:r>
                      <a:r>
                        <a:rPr lang="ko-KR" altLang="en-US" sz="9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원뿔형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을 선택하자 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150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여 개의 등록 디자인으로 간추려졌다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  <a:p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정씨는 원뿔형태 중에서도 분무구가 본체에 포함되어 있는 형태를 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1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차 검색결과 안에서 </a:t>
                      </a:r>
                      <a:r>
                        <a:rPr lang="ko-KR" altLang="en-US" sz="900" dirty="0" err="1" smtClean="0">
                          <a:latin typeface="나눔고딕" pitchFamily="50" charset="-127"/>
                          <a:ea typeface="나눔고딕" pitchFamily="50" charset="-127"/>
                        </a:rPr>
                        <a:t>재검색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 했다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  <a:p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30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여건의 등록 디자인으로 추려진 정보를 바탕으로 디자인하면 될 것이라고 생각한 정씨는 찾은 디자인을 스크랩하기 위해 회원가입을 하고 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My Page </a:t>
                      </a:r>
                      <a:r>
                        <a:rPr lang="ko-KR" altLang="en-US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에 스크랩 했다</a:t>
                      </a:r>
                      <a:r>
                        <a:rPr lang="en-US" altLang="ko-KR" sz="900" dirty="0" smtClean="0">
                          <a:latin typeface="나눔고딕" pitchFamily="50" charset="-127"/>
                          <a:ea typeface="나눔고딕" pitchFamily="50" charset="-127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" name="오각형 34"/>
          <p:cNvSpPr/>
          <p:nvPr/>
        </p:nvSpPr>
        <p:spPr>
          <a:xfrm>
            <a:off x="785794" y="3238488"/>
            <a:ext cx="1571636" cy="428628"/>
          </a:xfrm>
          <a:prstGeom prst="homePlate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 smtClean="0">
                <a:solidFill>
                  <a:schemeClr val="tx1"/>
                </a:solidFill>
                <a:ea typeface="나눔고딕"/>
              </a:rPr>
              <a:t>Naver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등 검색 포탈에서 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“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디자인 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(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특허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)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검색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”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검색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36" name="갈매기형 수장 35"/>
          <p:cNvSpPr/>
          <p:nvPr/>
        </p:nvSpPr>
        <p:spPr>
          <a:xfrm>
            <a:off x="777843" y="4667248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메인 페이지에서 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“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등록 디자인 보기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”(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가칭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)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메뉴 클릭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39" name="갈매기형 수장 38"/>
          <p:cNvSpPr/>
          <p:nvPr/>
        </p:nvSpPr>
        <p:spPr>
          <a:xfrm>
            <a:off x="777843" y="7731131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검색 마침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0" name="갈매기형 수장 39"/>
          <p:cNvSpPr/>
          <p:nvPr/>
        </p:nvSpPr>
        <p:spPr>
          <a:xfrm>
            <a:off x="777843" y="5381628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“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가전제품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”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카테고리의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“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가습기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”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선택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1" name="갈매기형 수장 40"/>
          <p:cNvSpPr/>
          <p:nvPr/>
        </p:nvSpPr>
        <p:spPr>
          <a:xfrm>
            <a:off x="2849545" y="8453462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My Page “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관심 디자인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”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에 스크랩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3" name="갈매기형 수장 42"/>
          <p:cNvSpPr/>
          <p:nvPr/>
        </p:nvSpPr>
        <p:spPr>
          <a:xfrm>
            <a:off x="777843" y="6096008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등록 디자인 리스트 열람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45" name="갈매기형 수장 44"/>
          <p:cNvSpPr/>
          <p:nvPr/>
        </p:nvSpPr>
        <p:spPr>
          <a:xfrm>
            <a:off x="777843" y="9151940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끝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 rot="5400000">
            <a:off x="1427942" y="3809198"/>
            <a:ext cx="28575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/>
          <p:nvPr/>
        </p:nvCxnSpPr>
        <p:spPr>
          <a:xfrm rot="5400000">
            <a:off x="1427942" y="5237958"/>
            <a:ext cx="28575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/>
          <p:nvPr/>
        </p:nvCxnSpPr>
        <p:spPr>
          <a:xfrm rot="5400000">
            <a:off x="1427942" y="5952338"/>
            <a:ext cx="28575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80"/>
          <p:cNvGrpSpPr/>
          <p:nvPr/>
        </p:nvGrpSpPr>
        <p:grpSpPr>
          <a:xfrm>
            <a:off x="984206" y="7032653"/>
            <a:ext cx="1164439" cy="410979"/>
            <a:chOff x="1264429" y="6105706"/>
            <a:chExt cx="1164439" cy="410979"/>
          </a:xfrm>
        </p:grpSpPr>
        <p:sp>
          <p:nvSpPr>
            <p:cNvPr id="53" name="순서도: 판단 52"/>
            <p:cNvSpPr/>
            <p:nvPr/>
          </p:nvSpPr>
          <p:spPr>
            <a:xfrm>
              <a:off x="1264429" y="6105706"/>
              <a:ext cx="1164439" cy="410979"/>
            </a:xfrm>
            <a:prstGeom prst="flowChartDecision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>
                <a:ea typeface="나눔고딕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396932" y="6207080"/>
              <a:ext cx="9172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dirty="0" smtClean="0">
                  <a:ea typeface="나눔고딕"/>
                </a:rPr>
                <a:t>검색결과 만족</a:t>
              </a:r>
              <a:endParaRPr lang="ko-KR" altLang="en-US" sz="900" dirty="0">
                <a:ea typeface="나눔고딕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1563661" y="7453330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278041" y="7024702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sp>
        <p:nvSpPr>
          <p:cNvPr id="58" name="갈매기형 수장 57"/>
          <p:cNvSpPr/>
          <p:nvPr/>
        </p:nvSpPr>
        <p:spPr>
          <a:xfrm>
            <a:off x="2849545" y="7016751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형태 검색에서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검색 조건 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(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추가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)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지정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59" name="직선 화살표 연결선 58"/>
          <p:cNvCxnSpPr/>
          <p:nvPr/>
        </p:nvCxnSpPr>
        <p:spPr>
          <a:xfrm rot="5400000">
            <a:off x="1320785" y="6781826"/>
            <a:ext cx="500066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/>
          <p:nvPr/>
        </p:nvCxnSpPr>
        <p:spPr>
          <a:xfrm rot="5400000">
            <a:off x="1421579" y="7579510"/>
            <a:ext cx="28575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/>
          <p:cNvCxnSpPr/>
          <p:nvPr/>
        </p:nvCxnSpPr>
        <p:spPr>
          <a:xfrm>
            <a:off x="2135165" y="8659825"/>
            <a:ext cx="714380" cy="795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4706933" y="7024702"/>
            <a:ext cx="1436711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분류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기준별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조건 항목 복수 지정 가능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64" name="직선 연결선 63"/>
          <p:cNvCxnSpPr/>
          <p:nvPr/>
        </p:nvCxnSpPr>
        <p:spPr>
          <a:xfrm>
            <a:off x="4429132" y="7239016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/>
          <p:nvPr/>
        </p:nvCxnSpPr>
        <p:spPr>
          <a:xfrm>
            <a:off x="2135165" y="7239016"/>
            <a:ext cx="71279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58" idx="0"/>
          </p:cNvCxnSpPr>
          <p:nvPr/>
        </p:nvCxnSpPr>
        <p:spPr>
          <a:xfrm rot="16200000" flipH="1" flipV="1">
            <a:off x="2592944" y="5990233"/>
            <a:ext cx="15902" cy="2068937"/>
          </a:xfrm>
          <a:prstGeom prst="bentConnector3">
            <a:avLst>
              <a:gd name="adj1" fmla="val -1537562"/>
            </a:avLst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순서도: 판단 95"/>
          <p:cNvSpPr/>
          <p:nvPr/>
        </p:nvSpPr>
        <p:spPr>
          <a:xfrm>
            <a:off x="984206" y="8445511"/>
            <a:ext cx="1164439" cy="410979"/>
          </a:xfrm>
          <a:prstGeom prst="flowChartDecision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ea typeface="나눔고딕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310586" y="8546885"/>
            <a:ext cx="5116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 smtClean="0">
                <a:ea typeface="나눔고딕"/>
              </a:rPr>
              <a:t>스크랩</a:t>
            </a:r>
            <a:endParaRPr lang="ko-KR" altLang="en-US" sz="900" dirty="0">
              <a:ea typeface="나눔고딕"/>
            </a:endParaRPr>
          </a:p>
        </p:txBody>
      </p:sp>
      <p:cxnSp>
        <p:nvCxnSpPr>
          <p:cNvPr id="98" name="직선 화살표 연결선 97"/>
          <p:cNvCxnSpPr/>
          <p:nvPr/>
        </p:nvCxnSpPr>
        <p:spPr>
          <a:xfrm rot="5400000">
            <a:off x="1427942" y="8301841"/>
            <a:ext cx="28575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278041" y="8453462"/>
            <a:ext cx="3722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YES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100" name="직선 화살표 연결선 99"/>
          <p:cNvCxnSpPr/>
          <p:nvPr/>
        </p:nvCxnSpPr>
        <p:spPr>
          <a:xfrm rot="5400000">
            <a:off x="1413507" y="9000440"/>
            <a:ext cx="28575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모서리가 둥근 직사각형 100"/>
          <p:cNvSpPr/>
          <p:nvPr/>
        </p:nvSpPr>
        <p:spPr>
          <a:xfrm>
            <a:off x="4706933" y="8469364"/>
            <a:ext cx="1508149" cy="42862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회원가입 후 스크랩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스크랩 항목 </a:t>
            </a:r>
            <a:r>
              <a:rPr lang="ko-KR" altLang="en-US" sz="900" dirty="0" err="1" smtClean="0">
                <a:solidFill>
                  <a:schemeClr val="tx1"/>
                </a:solidFill>
                <a:ea typeface="나눔고딕"/>
              </a:rPr>
              <a:t>폴더링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 가능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Excel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파일로 리스트 다운</a:t>
            </a:r>
            <a:endParaRPr lang="ko-KR" altLang="en-US" sz="900" dirty="0">
              <a:solidFill>
                <a:schemeClr val="tx1"/>
              </a:solidFill>
              <a:ea typeface="나눔고딕"/>
            </a:endParaRPr>
          </a:p>
        </p:txBody>
      </p:sp>
      <p:cxnSp>
        <p:nvCxnSpPr>
          <p:cNvPr id="102" name="직선 연결선 101"/>
          <p:cNvCxnSpPr/>
          <p:nvPr/>
        </p:nvCxnSpPr>
        <p:spPr>
          <a:xfrm>
            <a:off x="4421182" y="8675727"/>
            <a:ext cx="285752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566202" y="8858237"/>
            <a:ext cx="3626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rgbClr val="C00000"/>
                </a:solidFill>
                <a:ea typeface="나눔고딕"/>
              </a:rPr>
              <a:t>NO</a:t>
            </a:r>
            <a:endParaRPr lang="ko-KR" altLang="en-US" sz="900" dirty="0">
              <a:solidFill>
                <a:srgbClr val="C00000"/>
              </a:solidFill>
              <a:ea typeface="나눔고딕"/>
            </a:endParaRPr>
          </a:p>
        </p:txBody>
      </p:sp>
      <p:cxnSp>
        <p:nvCxnSpPr>
          <p:cNvPr id="48" name="꺾인 연결선 47"/>
          <p:cNvCxnSpPr>
            <a:stCxn id="41" idx="2"/>
            <a:endCxn id="45" idx="3"/>
          </p:cNvCxnSpPr>
          <p:nvPr/>
        </p:nvCxnSpPr>
        <p:spPr>
          <a:xfrm rot="5400000">
            <a:off x="2750339" y="8481230"/>
            <a:ext cx="484164" cy="1285884"/>
          </a:xfrm>
          <a:prstGeom prst="bentConnector2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rot="5400000">
            <a:off x="1427942" y="4523578"/>
            <a:ext cx="285752" cy="158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갈매기형 수장 60"/>
          <p:cNvSpPr/>
          <p:nvPr/>
        </p:nvSpPr>
        <p:spPr>
          <a:xfrm>
            <a:off x="785794" y="3952868"/>
            <a:ext cx="1571636" cy="428628"/>
          </a:xfrm>
          <a:prstGeom prst="chevron">
            <a:avLst>
              <a:gd name="adj" fmla="val 0"/>
            </a:avLst>
          </a:prstGeom>
          <a:solidFill>
            <a:schemeClr val="bg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 smtClean="0">
                <a:solidFill>
                  <a:schemeClr val="tx1"/>
                </a:solidFill>
                <a:ea typeface="나눔고딕"/>
              </a:rPr>
              <a:t>Designmap</a:t>
            </a:r>
            <a:r>
              <a:rPr lang="en-US" altLang="ko-KR" sz="900" dirty="0" smtClean="0">
                <a:solidFill>
                  <a:schemeClr val="tx1"/>
                </a:solidFill>
                <a:ea typeface="나눔고딕"/>
              </a:rPr>
              <a:t> </a:t>
            </a:r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사이트로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  <a:p>
            <a:pPr algn="ctr"/>
            <a:r>
              <a:rPr lang="ko-KR" altLang="en-US" sz="900" dirty="0" smtClean="0">
                <a:solidFill>
                  <a:schemeClr val="tx1"/>
                </a:solidFill>
                <a:ea typeface="나눔고딕"/>
              </a:rPr>
              <a:t>이동</a:t>
            </a:r>
            <a:endParaRPr lang="en-US" altLang="ko-KR" sz="900" dirty="0" smtClean="0">
              <a:solidFill>
                <a:schemeClr val="tx1"/>
              </a:solidFill>
              <a:ea typeface="나눔고딕"/>
            </a:endParaRPr>
          </a:p>
        </p:txBody>
      </p:sp>
      <p:sp>
        <p:nvSpPr>
          <p:cNvPr id="67" name="TextBox 4"/>
          <p:cNvSpPr txBox="1">
            <a:spLocks noChangeArrowheads="1"/>
          </p:cNvSpPr>
          <p:nvPr/>
        </p:nvSpPr>
        <p:spPr bwMode="auto">
          <a:xfrm>
            <a:off x="571480" y="166654"/>
            <a:ext cx="33575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Book Antiqua" pitchFamily="18" charset="0"/>
                <a:ea typeface="맑은 고딕" pitchFamily="50" charset="-127"/>
              </a:rPr>
              <a:t>User work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sz="900">
            <a:ea typeface="나눔고딕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1118</Words>
  <Application>Microsoft Office PowerPoint</Application>
  <PresentationFormat>A4 용지(210x297mm)</PresentationFormat>
  <Paragraphs>400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72</cp:revision>
  <dcterms:created xsi:type="dcterms:W3CDTF">2010-11-19T05:23:04Z</dcterms:created>
  <dcterms:modified xsi:type="dcterms:W3CDTF">2010-11-22T12:57:50Z</dcterms:modified>
</cp:coreProperties>
</file>